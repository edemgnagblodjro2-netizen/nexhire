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108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45946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9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1097280"/>
            <a:ext cx="5943600" cy="5943600"/>
          </a:xfrm>
          <a:prstGeom prst="ellipse">
            <a:avLst/>
          </a:prstGeom>
          <a:solidFill>
            <a:srgbClr val="0D1855">
              <a:alpha val="50000"/>
            </a:srgbClr>
          </a:solidFill>
          <a:ln w="12700">
            <a:solidFill>
              <a:srgbClr val="0D18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828800" y="2286000"/>
            <a:ext cx="5029200" cy="5029200"/>
          </a:xfrm>
          <a:prstGeom prst="ellipse">
            <a:avLst/>
          </a:prstGeom>
          <a:solidFill>
            <a:srgbClr val="0D1855">
              <a:alpha val="40000"/>
            </a:srgbClr>
          </a:solidFill>
          <a:ln w="12700">
            <a:solidFill>
              <a:srgbClr val="0D18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57200"/>
            <a:ext cx="1554480" cy="1554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86000" y="50292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Civic</a:t>
            </a:r>
            <a:r>
              <a:rPr lang="en-US" sz="4600" b="1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2286000" y="129844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50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TECHNOLOGIE AU SERVICE DE VOS IDÉES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2240280"/>
            <a:ext cx="411480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48640" y="237744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Présentation complète de nos services</a:t>
            </a:r>
            <a:endParaRPr lang="en-US" sz="2600" dirty="0"/>
          </a:p>
        </p:txBody>
      </p:sp>
      <p:sp>
        <p:nvSpPr>
          <p:cNvPr id="10" name="Shape 7"/>
          <p:cNvSpPr/>
          <p:nvPr/>
        </p:nvSpPr>
        <p:spPr>
          <a:xfrm>
            <a:off x="548640" y="3090672"/>
            <a:ext cx="4572000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85800" y="3108960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  ERP &amp; Gestion d'entreprise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" y="3529584"/>
            <a:ext cx="4572000" cy="34747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85800" y="3547872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  Digitalisation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48640" y="3968496"/>
            <a:ext cx="4572000" cy="347472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85800" y="3986784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  Solutions d'entreprise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48640" y="46177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Ayaovi Edem Gnagblodjro  ·  Fondateur &amp; CEO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905 809-7798  ·  civicai.attentezero.ca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7091D"/>
          </a:solidFill>
          <a:ln w="12700">
            <a:solidFill>
              <a:srgbClr val="0709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0" y="4846320"/>
            <a:ext cx="914400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274320" y="487375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civicai.attentezero.ca  |  civicai.attentezero@outlook.com  |  905 809-7798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8321040" y="487375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/ 20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7091D"/>
          </a:solidFill>
          <a:ln w="12700">
            <a:solidFill>
              <a:srgbClr val="0709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1143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109728"/>
            <a:ext cx="777240" cy="777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14630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Civic</a:t>
            </a:r>
            <a:r>
              <a:rPr lang="en-US" sz="2100" b="1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1051560" y="56692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00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Technologie au service de vos idées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4114800" y="73152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Qui sommes-nous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4114800" y="68580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Notre mission et notre vision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0" y="1143000"/>
            <a:ext cx="3657600" cy="3703320"/>
          </a:xfrm>
          <a:prstGeom prst="rect">
            <a:avLst/>
          </a:prstGeom>
          <a:solidFill>
            <a:srgbClr val="07091D"/>
          </a:solidFill>
          <a:ln w="12700">
            <a:solidFill>
              <a:srgbClr val="0709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0" y="1143000"/>
            <a:ext cx="54864" cy="3703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325880"/>
            <a:ext cx="1005840" cy="10058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71600" y="14630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Civic</a:t>
            </a:r>
            <a:r>
              <a:rPr lang="en-US" sz="2000" b="1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274320" y="2423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3C5F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Technologie au service de vos idées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274320" y="2788920"/>
            <a:ext cx="310896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274320" y="288036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Notre mission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274320" y="3163824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Simplifier la gestion des entreprises grâce à des solutions numériques sur mesure, accessibles et performantes — adaptées aux réalités des PME québécoises et canadiennes.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274320" y="44805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NEQ: 2280791601  ·  Basé au Canada  ·  Service partout</a:t>
            </a:r>
            <a:endParaRPr lang="en-US" sz="700" dirty="0"/>
          </a:p>
        </p:txBody>
      </p:sp>
      <p:sp>
        <p:nvSpPr>
          <p:cNvPr id="18" name="Shape 14"/>
          <p:cNvSpPr/>
          <p:nvPr/>
        </p:nvSpPr>
        <p:spPr>
          <a:xfrm>
            <a:off x="3840480" y="1280160"/>
            <a:ext cx="25146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3840480" y="1280160"/>
            <a:ext cx="251460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3950208" y="140817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7091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100% sur mesure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3950208" y="1755648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Solutions développées selon vos processus — pas un gabarit générique.</a:t>
            </a:r>
            <a:endParaRPr lang="en-US" sz="850" dirty="0"/>
          </a:p>
        </p:txBody>
      </p:sp>
      <p:sp>
        <p:nvSpPr>
          <p:cNvPr id="22" name="Shape 18"/>
          <p:cNvSpPr/>
          <p:nvPr/>
        </p:nvSpPr>
        <p:spPr>
          <a:xfrm>
            <a:off x="6492240" y="1280160"/>
            <a:ext cx="25146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6492240" y="1280160"/>
            <a:ext cx="251460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6601968" y="140817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7091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Multi-secteurs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6601968" y="1755648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Construction, immobilier, commerce, organismes — nous adaptons à votre réalité.</a:t>
            </a:r>
            <a:endParaRPr lang="en-US" sz="850" dirty="0"/>
          </a:p>
        </p:txBody>
      </p:sp>
      <p:sp>
        <p:nvSpPr>
          <p:cNvPr id="26" name="Shape 22"/>
          <p:cNvSpPr/>
          <p:nvPr/>
        </p:nvSpPr>
        <p:spPr>
          <a:xfrm>
            <a:off x="3840480" y="3017520"/>
            <a:ext cx="25146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3"/>
          <p:cNvSpPr/>
          <p:nvPr/>
        </p:nvSpPr>
        <p:spPr>
          <a:xfrm>
            <a:off x="3840480" y="3017520"/>
            <a:ext cx="251460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/>
          <p:nvPr/>
        </p:nvSpPr>
        <p:spPr>
          <a:xfrm>
            <a:off x="3950208" y="314553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7091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Basé au Canada</a:t>
            </a:r>
            <a:endParaRPr lang="en-US" sz="1000" dirty="0"/>
          </a:p>
        </p:txBody>
      </p:sp>
      <p:sp>
        <p:nvSpPr>
          <p:cNvPr id="29" name="Text 25"/>
          <p:cNvSpPr/>
          <p:nvPr/>
        </p:nvSpPr>
        <p:spPr>
          <a:xfrm>
            <a:off x="3950208" y="3493008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Données hébergées au Canada. Service bilingue. Conformité Loi 25.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492240" y="3017520"/>
            <a:ext cx="25146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7"/>
          <p:cNvSpPr/>
          <p:nvPr/>
        </p:nvSpPr>
        <p:spPr>
          <a:xfrm>
            <a:off x="6492240" y="3017520"/>
            <a:ext cx="251460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8"/>
          <p:cNvSpPr/>
          <p:nvPr/>
        </p:nvSpPr>
        <p:spPr>
          <a:xfrm>
            <a:off x="6601968" y="314553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7091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Support continu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6601968" y="3493008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Accompagnement du lancement jusqu'à l'évolution de votre solution.</a:t>
            </a:r>
            <a:endParaRPr lang="en-US" sz="850" dirty="0"/>
          </a:p>
        </p:txBody>
      </p:sp>
      <p:sp>
        <p:nvSpPr>
          <p:cNvPr id="34" name="Shape 3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7091D"/>
          </a:solidFill>
          <a:ln w="12700">
            <a:solidFill>
              <a:srgbClr val="0709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1"/>
          <p:cNvSpPr/>
          <p:nvPr/>
        </p:nvSpPr>
        <p:spPr>
          <a:xfrm>
            <a:off x="0" y="4846320"/>
            <a:ext cx="914400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2"/>
          <p:cNvSpPr/>
          <p:nvPr/>
        </p:nvSpPr>
        <p:spPr>
          <a:xfrm>
            <a:off x="274320" y="487375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civicai.attentezero.ca  |  civicai.attentezero@outlook.com  |  905 809-7798</a:t>
            </a:r>
            <a:endParaRPr lang="en-US" sz="750" dirty="0"/>
          </a:p>
        </p:txBody>
      </p:sp>
      <p:sp>
        <p:nvSpPr>
          <p:cNvPr id="37" name="Text 33"/>
          <p:cNvSpPr/>
          <p:nvPr/>
        </p:nvSpPr>
        <p:spPr>
          <a:xfrm>
            <a:off x="8321040" y="487375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 / 20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7091D"/>
          </a:solidFill>
          <a:ln w="12700">
            <a:solidFill>
              <a:srgbClr val="0709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1143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109728"/>
            <a:ext cx="777240" cy="777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14630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Civic</a:t>
            </a:r>
            <a:r>
              <a:rPr lang="en-US" sz="2100" b="1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1051560" y="56692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00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Technologie au service de vos idées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4114800" y="73152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Nos 3 offres principales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4114800" y="68580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Une solution pour chaque besoin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182880" y="1234440"/>
            <a:ext cx="2834640" cy="3657600"/>
          </a:xfrm>
          <a:prstGeom prst="rect">
            <a:avLst/>
          </a:prstGeom>
          <a:solidFill>
            <a:srgbClr val="07091D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182880" y="1234440"/>
            <a:ext cx="283464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20040" y="1371600"/>
            <a:ext cx="640080" cy="640080"/>
          </a:xfrm>
          <a:prstGeom prst="ellipse">
            <a:avLst/>
          </a:prstGeom>
          <a:solidFill>
            <a:srgbClr val="2563EB">
              <a:alpha val="30000"/>
            </a:srgbClr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1444752"/>
            <a:ext cx="493776" cy="49377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51560" y="1408176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310896" y="2084832"/>
            <a:ext cx="25786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ERP &amp; Gestion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d'entreprise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10896" y="2724912"/>
            <a:ext cx="25786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Plateforme intégrée sur mesure: chantiers, RH, finances, devis, équipes terrain et portail client.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310896" y="3547872"/>
            <a:ext cx="2578608" cy="274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310896" y="363931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466344" y="3621024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Gestion chantiers &amp; projets</a:t>
            </a:r>
            <a:endParaRPr 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310896" y="3877056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466344" y="385876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Feuilles de temps CCQ</a:t>
            </a:r>
            <a:endParaRPr lang="en-US" sz="850" dirty="0"/>
          </a:p>
        </p:txBody>
      </p:sp>
      <p:sp>
        <p:nvSpPr>
          <p:cNvPr id="21" name="Shape 17"/>
          <p:cNvSpPr/>
          <p:nvPr/>
        </p:nvSpPr>
        <p:spPr>
          <a:xfrm>
            <a:off x="310896" y="4114800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466344" y="409651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Devis &amp; facturation</a:t>
            </a:r>
            <a:endParaRPr lang="en-US" sz="850" dirty="0"/>
          </a:p>
        </p:txBody>
      </p:sp>
      <p:sp>
        <p:nvSpPr>
          <p:cNvPr id="23" name="Shape 19"/>
          <p:cNvSpPr/>
          <p:nvPr/>
        </p:nvSpPr>
        <p:spPr>
          <a:xfrm>
            <a:off x="310896" y="4352544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466344" y="4334256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Portail client</a:t>
            </a:r>
            <a:endParaRPr lang="en-US" sz="850" dirty="0"/>
          </a:p>
        </p:txBody>
      </p:sp>
      <p:sp>
        <p:nvSpPr>
          <p:cNvPr id="25" name="Shape 21"/>
          <p:cNvSpPr/>
          <p:nvPr/>
        </p:nvSpPr>
        <p:spPr>
          <a:xfrm>
            <a:off x="3172968" y="1234440"/>
            <a:ext cx="2834640" cy="3657600"/>
          </a:xfrm>
          <a:prstGeom prst="rect">
            <a:avLst/>
          </a:prstGeom>
          <a:solidFill>
            <a:srgbClr val="07091D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2"/>
          <p:cNvSpPr/>
          <p:nvPr/>
        </p:nvSpPr>
        <p:spPr>
          <a:xfrm>
            <a:off x="3172968" y="1234440"/>
            <a:ext cx="283464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3"/>
          <p:cNvSpPr/>
          <p:nvPr/>
        </p:nvSpPr>
        <p:spPr>
          <a:xfrm>
            <a:off x="3310128" y="1371600"/>
            <a:ext cx="640080" cy="640080"/>
          </a:xfrm>
          <a:prstGeom prst="ellipse">
            <a:avLst/>
          </a:prstGeom>
          <a:solidFill>
            <a:srgbClr val="7C3AED">
              <a:alpha val="30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4136" y="1444752"/>
            <a:ext cx="493776" cy="493776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4041648" y="1408176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C3A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200" dirty="0"/>
          </a:p>
        </p:txBody>
      </p:sp>
      <p:sp>
        <p:nvSpPr>
          <p:cNvPr id="30" name="Text 25"/>
          <p:cNvSpPr/>
          <p:nvPr/>
        </p:nvSpPr>
        <p:spPr>
          <a:xfrm>
            <a:off x="3300984" y="2084832"/>
            <a:ext cx="25786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Digitalisation</a:t>
            </a:r>
            <a:endParaRPr lang="en-US" sz="1300" dirty="0"/>
          </a:p>
        </p:txBody>
      </p:sp>
      <p:sp>
        <p:nvSpPr>
          <p:cNvPr id="31" name="Text 26"/>
          <p:cNvSpPr/>
          <p:nvPr/>
        </p:nvSpPr>
        <p:spPr>
          <a:xfrm>
            <a:off x="3300984" y="2724912"/>
            <a:ext cx="25786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Transformez vos processus manuels en solutions numériques performantes et accessibles partout.</a:t>
            </a:r>
            <a:endParaRPr lang="en-US" sz="850" dirty="0"/>
          </a:p>
        </p:txBody>
      </p:sp>
      <p:sp>
        <p:nvSpPr>
          <p:cNvPr id="32" name="Shape 27"/>
          <p:cNvSpPr/>
          <p:nvPr/>
        </p:nvSpPr>
        <p:spPr>
          <a:xfrm>
            <a:off x="3300984" y="3547872"/>
            <a:ext cx="2578608" cy="27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28"/>
          <p:cNvSpPr/>
          <p:nvPr/>
        </p:nvSpPr>
        <p:spPr>
          <a:xfrm>
            <a:off x="3300984" y="3639312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9"/>
          <p:cNvSpPr/>
          <p:nvPr/>
        </p:nvSpPr>
        <p:spPr>
          <a:xfrm>
            <a:off x="3456432" y="3621024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Sites web sur mesure</a:t>
            </a:r>
            <a:endParaRPr lang="en-US" sz="850" dirty="0"/>
          </a:p>
        </p:txBody>
      </p:sp>
      <p:sp>
        <p:nvSpPr>
          <p:cNvPr id="35" name="Shape 30"/>
          <p:cNvSpPr/>
          <p:nvPr/>
        </p:nvSpPr>
        <p:spPr>
          <a:xfrm>
            <a:off x="3300984" y="3877056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1"/>
          <p:cNvSpPr/>
          <p:nvPr/>
        </p:nvSpPr>
        <p:spPr>
          <a:xfrm>
            <a:off x="3456432" y="385876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Automatisation des tâches</a:t>
            </a:r>
            <a:endParaRPr lang="en-US" sz="850" dirty="0"/>
          </a:p>
        </p:txBody>
      </p:sp>
      <p:sp>
        <p:nvSpPr>
          <p:cNvPr id="37" name="Shape 32"/>
          <p:cNvSpPr/>
          <p:nvPr/>
        </p:nvSpPr>
        <p:spPr>
          <a:xfrm>
            <a:off x="3300984" y="4114800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3"/>
          <p:cNvSpPr/>
          <p:nvPr/>
        </p:nvSpPr>
        <p:spPr>
          <a:xfrm>
            <a:off x="3456432" y="409651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Tableaux de bord</a:t>
            </a:r>
            <a:endParaRPr lang="en-US" sz="850" dirty="0"/>
          </a:p>
        </p:txBody>
      </p:sp>
      <p:sp>
        <p:nvSpPr>
          <p:cNvPr id="39" name="Shape 34"/>
          <p:cNvSpPr/>
          <p:nvPr/>
        </p:nvSpPr>
        <p:spPr>
          <a:xfrm>
            <a:off x="3300984" y="4352544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5"/>
          <p:cNvSpPr/>
          <p:nvPr/>
        </p:nvSpPr>
        <p:spPr>
          <a:xfrm>
            <a:off x="3456432" y="4334256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Rapports numériques</a:t>
            </a:r>
            <a:endParaRPr lang="en-US" sz="850" dirty="0"/>
          </a:p>
        </p:txBody>
      </p:sp>
      <p:sp>
        <p:nvSpPr>
          <p:cNvPr id="41" name="Shape 36"/>
          <p:cNvSpPr/>
          <p:nvPr/>
        </p:nvSpPr>
        <p:spPr>
          <a:xfrm>
            <a:off x="6163056" y="1234440"/>
            <a:ext cx="2834640" cy="3657600"/>
          </a:xfrm>
          <a:prstGeom prst="rect">
            <a:avLst/>
          </a:prstGeom>
          <a:solidFill>
            <a:srgbClr val="07091D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37"/>
          <p:cNvSpPr/>
          <p:nvPr/>
        </p:nvSpPr>
        <p:spPr>
          <a:xfrm>
            <a:off x="6163056" y="1234440"/>
            <a:ext cx="2834640" cy="640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38"/>
          <p:cNvSpPr/>
          <p:nvPr/>
        </p:nvSpPr>
        <p:spPr>
          <a:xfrm>
            <a:off x="6300216" y="1371600"/>
            <a:ext cx="640080" cy="640080"/>
          </a:xfrm>
          <a:prstGeom prst="ellipse">
            <a:avLst/>
          </a:prstGeom>
          <a:solidFill>
            <a:srgbClr val="0F766E">
              <a:alpha val="30000"/>
            </a:srgbClr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4224" y="1444752"/>
            <a:ext cx="493776" cy="493776"/>
          </a:xfrm>
          <a:prstGeom prst="rect">
            <a:avLst/>
          </a:prstGeom>
        </p:spPr>
      </p:pic>
      <p:sp>
        <p:nvSpPr>
          <p:cNvPr id="45" name="Text 39"/>
          <p:cNvSpPr/>
          <p:nvPr/>
        </p:nvSpPr>
        <p:spPr>
          <a:xfrm>
            <a:off x="7031736" y="1408176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76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200" dirty="0"/>
          </a:p>
        </p:txBody>
      </p:sp>
      <p:sp>
        <p:nvSpPr>
          <p:cNvPr id="46" name="Text 40"/>
          <p:cNvSpPr/>
          <p:nvPr/>
        </p:nvSpPr>
        <p:spPr>
          <a:xfrm>
            <a:off x="6291072" y="2084832"/>
            <a:ext cx="25786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Solutions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d'entreprise</a:t>
            </a:r>
            <a:endParaRPr lang="en-US" sz="1300" dirty="0"/>
          </a:p>
        </p:txBody>
      </p:sp>
      <p:sp>
        <p:nvSpPr>
          <p:cNvPr id="47" name="Text 41"/>
          <p:cNvSpPr/>
          <p:nvPr/>
        </p:nvSpPr>
        <p:spPr>
          <a:xfrm>
            <a:off x="6291072" y="2724912"/>
            <a:ext cx="25786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CRM, marketing, gestion de clients et outils de croissance adaptés à votre secteur.</a:t>
            </a:r>
            <a:endParaRPr lang="en-US" sz="850" dirty="0"/>
          </a:p>
        </p:txBody>
      </p:sp>
      <p:sp>
        <p:nvSpPr>
          <p:cNvPr id="48" name="Shape 42"/>
          <p:cNvSpPr/>
          <p:nvPr/>
        </p:nvSpPr>
        <p:spPr>
          <a:xfrm>
            <a:off x="6291072" y="3547872"/>
            <a:ext cx="2578608" cy="2743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3"/>
          <p:cNvSpPr/>
          <p:nvPr/>
        </p:nvSpPr>
        <p:spPr>
          <a:xfrm>
            <a:off x="6291072" y="3639312"/>
            <a:ext cx="109728" cy="10972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4"/>
          <p:cNvSpPr/>
          <p:nvPr/>
        </p:nvSpPr>
        <p:spPr>
          <a:xfrm>
            <a:off x="6446520" y="3621024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CRM sur mesure</a:t>
            </a:r>
            <a:endParaRPr lang="en-US" sz="850" dirty="0"/>
          </a:p>
        </p:txBody>
      </p:sp>
      <p:sp>
        <p:nvSpPr>
          <p:cNvPr id="51" name="Shape 45"/>
          <p:cNvSpPr/>
          <p:nvPr/>
        </p:nvSpPr>
        <p:spPr>
          <a:xfrm>
            <a:off x="6291072" y="3877056"/>
            <a:ext cx="109728" cy="10972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46"/>
          <p:cNvSpPr/>
          <p:nvPr/>
        </p:nvSpPr>
        <p:spPr>
          <a:xfrm>
            <a:off x="6446520" y="385876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Marketing digital</a:t>
            </a:r>
            <a:endParaRPr lang="en-US" sz="850" dirty="0"/>
          </a:p>
        </p:txBody>
      </p:sp>
      <p:sp>
        <p:nvSpPr>
          <p:cNvPr id="53" name="Shape 47"/>
          <p:cNvSpPr/>
          <p:nvPr/>
        </p:nvSpPr>
        <p:spPr>
          <a:xfrm>
            <a:off x="6291072" y="4114800"/>
            <a:ext cx="109728" cy="10972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48"/>
          <p:cNvSpPr/>
          <p:nvPr/>
        </p:nvSpPr>
        <p:spPr>
          <a:xfrm>
            <a:off x="6446520" y="409651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Gestion de projets</a:t>
            </a:r>
            <a:endParaRPr lang="en-US" sz="850" dirty="0"/>
          </a:p>
        </p:txBody>
      </p:sp>
      <p:sp>
        <p:nvSpPr>
          <p:cNvPr id="55" name="Shape 49"/>
          <p:cNvSpPr/>
          <p:nvPr/>
        </p:nvSpPr>
        <p:spPr>
          <a:xfrm>
            <a:off x="6291072" y="4352544"/>
            <a:ext cx="109728" cy="10972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0"/>
          <p:cNvSpPr/>
          <p:nvPr/>
        </p:nvSpPr>
        <p:spPr>
          <a:xfrm>
            <a:off x="6446520" y="4334256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Intégrations &amp; API</a:t>
            </a:r>
            <a:endParaRPr lang="en-US" sz="850" dirty="0"/>
          </a:p>
        </p:txBody>
      </p:sp>
      <p:sp>
        <p:nvSpPr>
          <p:cNvPr id="57" name="Shape 5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7091D"/>
          </a:solidFill>
          <a:ln w="12700">
            <a:solidFill>
              <a:srgbClr val="0709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2"/>
          <p:cNvSpPr/>
          <p:nvPr/>
        </p:nvSpPr>
        <p:spPr>
          <a:xfrm>
            <a:off x="0" y="4846320"/>
            <a:ext cx="914400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3"/>
          <p:cNvSpPr/>
          <p:nvPr/>
        </p:nvSpPr>
        <p:spPr>
          <a:xfrm>
            <a:off x="274320" y="487375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civicai.attentezero.ca  |  civicai.attentezero@outlook.com  |  905 809-7798</a:t>
            </a:r>
            <a:endParaRPr lang="en-US" sz="750" dirty="0"/>
          </a:p>
        </p:txBody>
      </p:sp>
      <p:sp>
        <p:nvSpPr>
          <p:cNvPr id="60" name="Text 54"/>
          <p:cNvSpPr/>
          <p:nvPr/>
        </p:nvSpPr>
        <p:spPr>
          <a:xfrm>
            <a:off x="8321040" y="487375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/ 20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9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914400"/>
            <a:ext cx="5486400" cy="5486400"/>
          </a:xfrm>
          <a:prstGeom prst="ellipse">
            <a:avLst/>
          </a:prstGeom>
          <a:solidFill>
            <a:srgbClr val="0D1855">
              <a:alpha val="45000"/>
            </a:srgbClr>
          </a:solidFill>
          <a:ln w="12700">
            <a:solidFill>
              <a:srgbClr val="0D18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7091D"/>
          </a:solidFill>
          <a:ln w="12700">
            <a:solidFill>
              <a:srgbClr val="0709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4864" cy="1143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109728"/>
            <a:ext cx="777240" cy="777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14630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Civic</a:t>
            </a:r>
            <a:r>
              <a:rPr lang="en-US" sz="2100" b="1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051560" y="56692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00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Technologie au service de vos idées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4114800" y="73152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OFFRE 01 — ERP &amp; Gestion d'entreprise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4114800" y="68580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Plateforme intégrée sur mesure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0" y="1143000"/>
            <a:ext cx="54864" cy="3703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274320" y="1261872"/>
            <a:ext cx="411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Gérez toute votre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entreprise depuis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 seul outil.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274320" y="2670048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Fini les fichiers Excel éparpillés, les textos perdus et les rapports papier. ConstructPro ERP centralise tout — chantiers, RH, finances, équipes terrain et clients — dans une plateforme accessible depuis n'importe quel appareil, même sans connexion.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937760" y="1280160"/>
            <a:ext cx="1005840" cy="1371600"/>
          </a:xfrm>
          <a:prstGeom prst="rect">
            <a:avLst/>
          </a:prstGeom>
          <a:solidFill>
            <a:srgbClr val="0F1D5C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937760" y="1353312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19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4937760" y="192024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Modules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complets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6016752" y="1280160"/>
            <a:ext cx="1005840" cy="1371600"/>
          </a:xfrm>
          <a:prstGeom prst="rect">
            <a:avLst/>
          </a:prstGeom>
          <a:solidFill>
            <a:srgbClr val="0F1D5C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016752" y="1353312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6016752" y="192024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Portails: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Bureau · Terrain · Client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7095744" y="1280160"/>
            <a:ext cx="1005840" cy="1371600"/>
          </a:xfrm>
          <a:prstGeom prst="rect">
            <a:avLst/>
          </a:prstGeom>
          <a:solidFill>
            <a:srgbClr val="0F1D5C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7095744" y="1353312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100%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7095744" y="192024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Sur mesure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selon vos besoins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8174736" y="1280160"/>
            <a:ext cx="1005840" cy="1371600"/>
          </a:xfrm>
          <a:prstGeom prst="rect">
            <a:avLst/>
          </a:prstGeom>
          <a:solidFill>
            <a:srgbClr val="0F1D5C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8174736" y="1353312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24/7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8174736" y="192024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Accès mobile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hors-ligne inclus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4937760" y="28163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Pour qui?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4937760" y="3163824"/>
            <a:ext cx="128016" cy="12801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5120640" y="312724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Entrepreneurs généraux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4937760" y="3493008"/>
            <a:ext cx="128016" cy="12801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5120640" y="345643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Sous-traitants spécialisés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4937760" y="3822192"/>
            <a:ext cx="128016" cy="12801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5120640" y="378561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Promoteurs immobiliers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6309360" y="3163824"/>
            <a:ext cx="128016" cy="12801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6492240" y="312724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Entreprises de rénovation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6309360" y="3493008"/>
            <a:ext cx="128016" cy="12801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6492240" y="345643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Gestionnaires multi-chantiers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7091D"/>
          </a:solidFill>
          <a:ln w="12700">
            <a:solidFill>
              <a:srgbClr val="0709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0" y="4846320"/>
            <a:ext cx="914400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274320" y="487375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civicai.attentezero.ca  |  civicai.attentezero@outlook.com  |  905 809-7798</a:t>
            </a:r>
            <a:endParaRPr lang="en-US" sz="750" dirty="0"/>
          </a:p>
        </p:txBody>
      </p:sp>
      <p:sp>
        <p:nvSpPr>
          <p:cNvPr id="39" name="Text 36"/>
          <p:cNvSpPr/>
          <p:nvPr/>
        </p:nvSpPr>
        <p:spPr>
          <a:xfrm>
            <a:off x="8321040" y="487375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 / 20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7091D"/>
          </a:solidFill>
          <a:ln w="12700">
            <a:solidFill>
              <a:srgbClr val="0709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1143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109728"/>
            <a:ext cx="777240" cy="777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14630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Civic</a:t>
            </a:r>
            <a:r>
              <a:rPr lang="en-US" sz="2100" b="1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1051560" y="56692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00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Technologie au service de vos idées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4114800" y="73152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ERP — Les 19 modules inclus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4114800" y="68580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Couverture complète de vos opérations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109728" y="1207008"/>
            <a:ext cx="2148840" cy="676656"/>
          </a:xfrm>
          <a:prstGeom prst="rect">
            <a:avLst/>
          </a:prstGeom>
          <a:solidFill>
            <a:srgbClr val="07091D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109728" y="1207008"/>
            <a:ext cx="214884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182880" y="1298448"/>
            <a:ext cx="228600" cy="228600"/>
          </a:xfrm>
          <a:prstGeom prst="ellipse">
            <a:avLst/>
          </a:prstGeom>
          <a:solidFill>
            <a:srgbClr val="2563EB">
              <a:alpha val="30000"/>
            </a:srgbClr>
          </a:solidFill>
          <a:ln w="12700">
            <a:solidFill>
              <a:srgbClr val="2563E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82880" y="129844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457200" y="1298448"/>
            <a:ext cx="1746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Tableau de bord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57200" y="1554480"/>
            <a:ext cx="1746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KPIs temps réel, alertes automatiques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2350008" y="1207008"/>
            <a:ext cx="2148840" cy="676656"/>
          </a:xfrm>
          <a:prstGeom prst="rect">
            <a:avLst/>
          </a:prstGeom>
          <a:solidFill>
            <a:srgbClr val="07091D"/>
          </a:solidFill>
          <a:ln w="12700">
            <a:solidFill>
              <a:srgbClr val="1D4E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2350008" y="1207008"/>
            <a:ext cx="2148840" cy="45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2423160" y="1298448"/>
            <a:ext cx="228600" cy="228600"/>
          </a:xfrm>
          <a:prstGeom prst="ellipse">
            <a:avLst/>
          </a:prstGeom>
          <a:solidFill>
            <a:srgbClr val="1D4ED8">
              <a:alpha val="30000"/>
            </a:srgbClr>
          </a:solidFill>
          <a:ln w="12700">
            <a:solidFill>
              <a:srgbClr val="1D4ED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2423160" y="129844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D4E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2697480" y="1298448"/>
            <a:ext cx="1746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Gestion des chantiers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2697480" y="1554480"/>
            <a:ext cx="1746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Avancement, phases, budget vs dépenses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4590288" y="1207008"/>
            <a:ext cx="2148840" cy="676656"/>
          </a:xfrm>
          <a:prstGeom prst="rect">
            <a:avLst/>
          </a:prstGeom>
          <a:solidFill>
            <a:srgbClr val="07091D"/>
          </a:solidFill>
          <a:ln w="12700">
            <a:solidFill>
              <a:srgbClr val="0F766E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4590288" y="1207008"/>
            <a:ext cx="2148840" cy="457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4663440" y="1298448"/>
            <a:ext cx="228600" cy="228600"/>
          </a:xfrm>
          <a:prstGeom prst="ellipse">
            <a:avLst/>
          </a:prstGeom>
          <a:solidFill>
            <a:srgbClr val="0F766E">
              <a:alpha val="30000"/>
            </a:srgbClr>
          </a:solidFill>
          <a:ln w="12700">
            <a:solidFill>
              <a:srgbClr val="0F766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4663440" y="129844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F76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4937760" y="1298448"/>
            <a:ext cx="1746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Feuilles de temps CCQ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4937760" y="1554480"/>
            <a:ext cx="1746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Pointage mobile, classifications, export paie</a:t>
            </a:r>
            <a:endParaRPr lang="en-US" sz="750" dirty="0"/>
          </a:p>
        </p:txBody>
      </p:sp>
      <p:sp>
        <p:nvSpPr>
          <p:cNvPr id="27" name="Shape 24"/>
          <p:cNvSpPr/>
          <p:nvPr/>
        </p:nvSpPr>
        <p:spPr>
          <a:xfrm>
            <a:off x="6830568" y="1207008"/>
            <a:ext cx="2148840" cy="676656"/>
          </a:xfrm>
          <a:prstGeom prst="rect">
            <a:avLst/>
          </a:prstGeom>
          <a:solidFill>
            <a:srgbClr val="07091D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6830568" y="1207008"/>
            <a:ext cx="214884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6903720" y="1298448"/>
            <a:ext cx="228600" cy="228600"/>
          </a:xfrm>
          <a:prstGeom prst="ellipse">
            <a:avLst/>
          </a:prstGeom>
          <a:solidFill>
            <a:srgbClr val="7C3AED">
              <a:alpha val="30000"/>
            </a:srgbClr>
          </a:solidFill>
          <a:ln w="12700">
            <a:solidFill>
              <a:srgbClr val="7C3AED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6903720" y="129844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7C3A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700" dirty="0"/>
          </a:p>
        </p:txBody>
      </p:sp>
      <p:sp>
        <p:nvSpPr>
          <p:cNvPr id="31" name="Text 28"/>
          <p:cNvSpPr/>
          <p:nvPr/>
        </p:nvSpPr>
        <p:spPr>
          <a:xfrm>
            <a:off x="7178040" y="1298448"/>
            <a:ext cx="1746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Rapports journaliers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7178040" y="1554480"/>
            <a:ext cx="1746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Photos horodatées GPS, formulaire terrain</a:t>
            </a:r>
            <a:endParaRPr lang="en-US" sz="750" dirty="0"/>
          </a:p>
        </p:txBody>
      </p:sp>
      <p:sp>
        <p:nvSpPr>
          <p:cNvPr id="33" name="Shape 30"/>
          <p:cNvSpPr/>
          <p:nvPr/>
        </p:nvSpPr>
        <p:spPr>
          <a:xfrm>
            <a:off x="109728" y="1938528"/>
            <a:ext cx="2148840" cy="676656"/>
          </a:xfrm>
          <a:prstGeom prst="rect">
            <a:avLst/>
          </a:prstGeom>
          <a:solidFill>
            <a:srgbClr val="07091D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109728" y="1938528"/>
            <a:ext cx="214884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182880" y="2029968"/>
            <a:ext cx="228600" cy="228600"/>
          </a:xfrm>
          <a:prstGeom prst="ellipse">
            <a:avLst/>
          </a:prstGeom>
          <a:solidFill>
            <a:srgbClr val="0891B2">
              <a:alpha val="30000"/>
            </a:srgbClr>
          </a:solidFill>
          <a:ln w="12700">
            <a:solidFill>
              <a:srgbClr val="0891B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182880" y="202996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891B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700" dirty="0"/>
          </a:p>
        </p:txBody>
      </p:sp>
      <p:sp>
        <p:nvSpPr>
          <p:cNvPr id="37" name="Text 34"/>
          <p:cNvSpPr/>
          <p:nvPr/>
        </p:nvSpPr>
        <p:spPr>
          <a:xfrm>
            <a:off x="457200" y="2029968"/>
            <a:ext cx="1746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Équipements &amp; machinerie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457200" y="2286000"/>
            <a:ext cx="1746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Inspections, heures, localisation</a:t>
            </a:r>
            <a:endParaRPr lang="en-US" sz="750" dirty="0"/>
          </a:p>
        </p:txBody>
      </p:sp>
      <p:sp>
        <p:nvSpPr>
          <p:cNvPr id="39" name="Shape 36"/>
          <p:cNvSpPr/>
          <p:nvPr/>
        </p:nvSpPr>
        <p:spPr>
          <a:xfrm>
            <a:off x="2350008" y="1938528"/>
            <a:ext cx="2148840" cy="676656"/>
          </a:xfrm>
          <a:prstGeom prst="rect">
            <a:avLst/>
          </a:prstGeom>
          <a:solidFill>
            <a:srgbClr val="07091D"/>
          </a:solidFill>
          <a:ln w="12700">
            <a:solidFill>
              <a:srgbClr val="065F46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7"/>
          <p:cNvSpPr/>
          <p:nvPr/>
        </p:nvSpPr>
        <p:spPr>
          <a:xfrm>
            <a:off x="2350008" y="1938528"/>
            <a:ext cx="2148840" cy="4572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8"/>
          <p:cNvSpPr/>
          <p:nvPr/>
        </p:nvSpPr>
        <p:spPr>
          <a:xfrm>
            <a:off x="2423160" y="2029968"/>
            <a:ext cx="228600" cy="228600"/>
          </a:xfrm>
          <a:prstGeom prst="ellipse">
            <a:avLst/>
          </a:prstGeom>
          <a:solidFill>
            <a:srgbClr val="065F46">
              <a:alpha val="30000"/>
            </a:srgbClr>
          </a:solidFill>
          <a:ln w="12700">
            <a:solidFill>
              <a:srgbClr val="065F4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2423160" y="202996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65F4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700" dirty="0"/>
          </a:p>
        </p:txBody>
      </p:sp>
      <p:sp>
        <p:nvSpPr>
          <p:cNvPr id="43" name="Text 40"/>
          <p:cNvSpPr/>
          <p:nvPr/>
        </p:nvSpPr>
        <p:spPr>
          <a:xfrm>
            <a:off x="2697480" y="2029968"/>
            <a:ext cx="1746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Matériaux &amp; stocks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2697480" y="2286000"/>
            <a:ext cx="1746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Niveaux, alertes, bons de commande</a:t>
            </a:r>
            <a:endParaRPr lang="en-US" sz="750" dirty="0"/>
          </a:p>
        </p:txBody>
      </p:sp>
      <p:sp>
        <p:nvSpPr>
          <p:cNvPr id="45" name="Shape 42"/>
          <p:cNvSpPr/>
          <p:nvPr/>
        </p:nvSpPr>
        <p:spPr>
          <a:xfrm>
            <a:off x="4590288" y="1938528"/>
            <a:ext cx="2148840" cy="676656"/>
          </a:xfrm>
          <a:prstGeom prst="rect">
            <a:avLst/>
          </a:prstGeom>
          <a:solidFill>
            <a:srgbClr val="07091D"/>
          </a:solidFill>
          <a:ln w="12700">
            <a:solidFill>
              <a:srgbClr val="92400E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Shape 43"/>
          <p:cNvSpPr/>
          <p:nvPr/>
        </p:nvSpPr>
        <p:spPr>
          <a:xfrm>
            <a:off x="4590288" y="1938528"/>
            <a:ext cx="2148840" cy="45720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4"/>
          <p:cNvSpPr/>
          <p:nvPr/>
        </p:nvSpPr>
        <p:spPr>
          <a:xfrm>
            <a:off x="4663440" y="2029968"/>
            <a:ext cx="228600" cy="228600"/>
          </a:xfrm>
          <a:prstGeom prst="ellipse">
            <a:avLst/>
          </a:prstGeom>
          <a:solidFill>
            <a:srgbClr val="92400E">
              <a:alpha val="30000"/>
            </a:srgbClr>
          </a:solidFill>
          <a:ln w="12700">
            <a:solidFill>
              <a:srgbClr val="92400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5"/>
          <p:cNvSpPr/>
          <p:nvPr/>
        </p:nvSpPr>
        <p:spPr>
          <a:xfrm>
            <a:off x="4663440" y="202996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92400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07</a:t>
            </a:r>
            <a:endParaRPr lang="en-US" sz="700" dirty="0"/>
          </a:p>
        </p:txBody>
      </p:sp>
      <p:sp>
        <p:nvSpPr>
          <p:cNvPr id="49" name="Text 46"/>
          <p:cNvSpPr/>
          <p:nvPr/>
        </p:nvSpPr>
        <p:spPr>
          <a:xfrm>
            <a:off x="4937760" y="2029968"/>
            <a:ext cx="1746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Équipe &amp; compétences</a:t>
            </a:r>
            <a:endParaRPr lang="en-US" sz="900" dirty="0"/>
          </a:p>
        </p:txBody>
      </p:sp>
      <p:sp>
        <p:nvSpPr>
          <p:cNvPr id="50" name="Text 47"/>
          <p:cNvSpPr/>
          <p:nvPr/>
        </p:nvSpPr>
        <p:spPr>
          <a:xfrm>
            <a:off x="4937760" y="2286000"/>
            <a:ext cx="1746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Profils, certifications, disponibilités</a:t>
            </a:r>
            <a:endParaRPr lang="en-US" sz="750" dirty="0"/>
          </a:p>
        </p:txBody>
      </p:sp>
      <p:sp>
        <p:nvSpPr>
          <p:cNvPr id="51" name="Shape 48"/>
          <p:cNvSpPr/>
          <p:nvPr/>
        </p:nvSpPr>
        <p:spPr>
          <a:xfrm>
            <a:off x="6830568" y="1938528"/>
            <a:ext cx="2148840" cy="676656"/>
          </a:xfrm>
          <a:prstGeom prst="rect">
            <a:avLst/>
          </a:prstGeom>
          <a:solidFill>
            <a:srgbClr val="07091D"/>
          </a:solidFill>
          <a:ln w="12700">
            <a:solidFill>
              <a:srgbClr val="1E3A8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2" name="Shape 49"/>
          <p:cNvSpPr/>
          <p:nvPr/>
        </p:nvSpPr>
        <p:spPr>
          <a:xfrm>
            <a:off x="6830568" y="1938528"/>
            <a:ext cx="2148840" cy="4572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0"/>
          <p:cNvSpPr/>
          <p:nvPr/>
        </p:nvSpPr>
        <p:spPr>
          <a:xfrm>
            <a:off x="6903720" y="2029968"/>
            <a:ext cx="228600" cy="228600"/>
          </a:xfrm>
          <a:prstGeom prst="ellipse">
            <a:avLst/>
          </a:prstGeom>
          <a:solidFill>
            <a:srgbClr val="1E3A8A">
              <a:alpha val="30000"/>
            </a:srgbClr>
          </a:solidFill>
          <a:ln w="12700">
            <a:solidFill>
              <a:srgbClr val="1E3A8A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1"/>
          <p:cNvSpPr/>
          <p:nvPr/>
        </p:nvSpPr>
        <p:spPr>
          <a:xfrm>
            <a:off x="6903720" y="202996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E3A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08</a:t>
            </a:r>
            <a:endParaRPr lang="en-US" sz="700" dirty="0"/>
          </a:p>
        </p:txBody>
      </p:sp>
      <p:sp>
        <p:nvSpPr>
          <p:cNvPr id="55" name="Text 52"/>
          <p:cNvSpPr/>
          <p:nvPr/>
        </p:nvSpPr>
        <p:spPr>
          <a:xfrm>
            <a:off x="7178040" y="2029968"/>
            <a:ext cx="1746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Affectation &amp; Gantt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7178040" y="2286000"/>
            <a:ext cx="1746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Délégation, planification, conflits</a:t>
            </a:r>
            <a:endParaRPr lang="en-US" sz="750" dirty="0"/>
          </a:p>
        </p:txBody>
      </p:sp>
      <p:sp>
        <p:nvSpPr>
          <p:cNvPr id="57" name="Shape 54"/>
          <p:cNvSpPr/>
          <p:nvPr/>
        </p:nvSpPr>
        <p:spPr>
          <a:xfrm>
            <a:off x="109728" y="2670048"/>
            <a:ext cx="2148840" cy="676656"/>
          </a:xfrm>
          <a:prstGeom prst="rect">
            <a:avLst/>
          </a:prstGeom>
          <a:solidFill>
            <a:srgbClr val="07091D"/>
          </a:solidFill>
          <a:ln w="12700">
            <a:solidFill>
              <a:srgbClr val="0F766E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8" name="Shape 55"/>
          <p:cNvSpPr/>
          <p:nvPr/>
        </p:nvSpPr>
        <p:spPr>
          <a:xfrm>
            <a:off x="109728" y="2670048"/>
            <a:ext cx="2148840" cy="457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6"/>
          <p:cNvSpPr/>
          <p:nvPr/>
        </p:nvSpPr>
        <p:spPr>
          <a:xfrm>
            <a:off x="182880" y="2761488"/>
            <a:ext cx="228600" cy="228600"/>
          </a:xfrm>
          <a:prstGeom prst="ellipse">
            <a:avLst/>
          </a:prstGeom>
          <a:solidFill>
            <a:srgbClr val="0F766E">
              <a:alpha val="30000"/>
            </a:srgbClr>
          </a:solidFill>
          <a:ln w="12700">
            <a:solidFill>
              <a:srgbClr val="0F766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7"/>
          <p:cNvSpPr/>
          <p:nvPr/>
        </p:nvSpPr>
        <p:spPr>
          <a:xfrm>
            <a:off x="182880" y="276148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F76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09</a:t>
            </a:r>
            <a:endParaRPr lang="en-US" sz="700" dirty="0"/>
          </a:p>
        </p:txBody>
      </p:sp>
      <p:sp>
        <p:nvSpPr>
          <p:cNvPr id="61" name="Text 58"/>
          <p:cNvSpPr/>
          <p:nvPr/>
        </p:nvSpPr>
        <p:spPr>
          <a:xfrm>
            <a:off x="457200" y="2761488"/>
            <a:ext cx="1746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Recrutement RH</a:t>
            </a:r>
            <a:endParaRPr lang="en-US" sz="900" dirty="0"/>
          </a:p>
        </p:txBody>
      </p:sp>
      <p:sp>
        <p:nvSpPr>
          <p:cNvPr id="62" name="Text 59"/>
          <p:cNvSpPr/>
          <p:nvPr/>
        </p:nvSpPr>
        <p:spPr>
          <a:xfrm>
            <a:off x="457200" y="3017520"/>
            <a:ext cx="1746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Pipeline kanban: attente, cours, terminé</a:t>
            </a:r>
            <a:endParaRPr lang="en-US" sz="750" dirty="0"/>
          </a:p>
        </p:txBody>
      </p:sp>
      <p:sp>
        <p:nvSpPr>
          <p:cNvPr id="63" name="Shape 60"/>
          <p:cNvSpPr/>
          <p:nvPr/>
        </p:nvSpPr>
        <p:spPr>
          <a:xfrm>
            <a:off x="2350008" y="2670048"/>
            <a:ext cx="2148840" cy="676656"/>
          </a:xfrm>
          <a:prstGeom prst="rect">
            <a:avLst/>
          </a:prstGeom>
          <a:solidFill>
            <a:srgbClr val="07091D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4" name="Shape 61"/>
          <p:cNvSpPr/>
          <p:nvPr/>
        </p:nvSpPr>
        <p:spPr>
          <a:xfrm>
            <a:off x="2350008" y="2670048"/>
            <a:ext cx="214884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2"/>
          <p:cNvSpPr/>
          <p:nvPr/>
        </p:nvSpPr>
        <p:spPr>
          <a:xfrm>
            <a:off x="2423160" y="2761488"/>
            <a:ext cx="228600" cy="228600"/>
          </a:xfrm>
          <a:prstGeom prst="ellipse">
            <a:avLst/>
          </a:prstGeom>
          <a:solidFill>
            <a:srgbClr val="2563EB">
              <a:alpha val="30000"/>
            </a:srgbClr>
          </a:solidFill>
          <a:ln w="12700">
            <a:solidFill>
              <a:srgbClr val="2563E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3"/>
          <p:cNvSpPr/>
          <p:nvPr/>
        </p:nvSpPr>
        <p:spPr>
          <a:xfrm>
            <a:off x="2423160" y="276148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</a:t>
            </a:r>
            <a:endParaRPr lang="en-US" sz="700" dirty="0"/>
          </a:p>
        </p:txBody>
      </p:sp>
      <p:sp>
        <p:nvSpPr>
          <p:cNvPr id="67" name="Text 64"/>
          <p:cNvSpPr/>
          <p:nvPr/>
        </p:nvSpPr>
        <p:spPr>
          <a:xfrm>
            <a:off x="2697480" y="2761488"/>
            <a:ext cx="1746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Formations &amp; SST</a:t>
            </a:r>
            <a:endParaRPr lang="en-US" sz="900" dirty="0"/>
          </a:p>
        </p:txBody>
      </p:sp>
      <p:sp>
        <p:nvSpPr>
          <p:cNvPr id="68" name="Text 65"/>
          <p:cNvSpPr/>
          <p:nvPr/>
        </p:nvSpPr>
        <p:spPr>
          <a:xfrm>
            <a:off x="2697480" y="3017520"/>
            <a:ext cx="1746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Certifications, échéances, CNESST</a:t>
            </a:r>
            <a:endParaRPr lang="en-US" sz="750" dirty="0"/>
          </a:p>
        </p:txBody>
      </p:sp>
      <p:sp>
        <p:nvSpPr>
          <p:cNvPr id="69" name="Shape 66"/>
          <p:cNvSpPr/>
          <p:nvPr/>
        </p:nvSpPr>
        <p:spPr>
          <a:xfrm>
            <a:off x="4590288" y="2670048"/>
            <a:ext cx="2148840" cy="676656"/>
          </a:xfrm>
          <a:prstGeom prst="rect">
            <a:avLst/>
          </a:prstGeom>
          <a:solidFill>
            <a:srgbClr val="07091D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0" name="Shape 67"/>
          <p:cNvSpPr/>
          <p:nvPr/>
        </p:nvSpPr>
        <p:spPr>
          <a:xfrm>
            <a:off x="4590288" y="2670048"/>
            <a:ext cx="214884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8"/>
          <p:cNvSpPr/>
          <p:nvPr/>
        </p:nvSpPr>
        <p:spPr>
          <a:xfrm>
            <a:off x="4663440" y="2761488"/>
            <a:ext cx="228600" cy="228600"/>
          </a:xfrm>
          <a:prstGeom prst="ellipse">
            <a:avLst/>
          </a:prstGeom>
          <a:solidFill>
            <a:srgbClr val="2563EB">
              <a:alpha val="30000"/>
            </a:srgbClr>
          </a:solidFill>
          <a:ln w="12700">
            <a:solidFill>
              <a:srgbClr val="2563E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69"/>
          <p:cNvSpPr/>
          <p:nvPr/>
        </p:nvSpPr>
        <p:spPr>
          <a:xfrm>
            <a:off x="4663440" y="276148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</a:t>
            </a:r>
            <a:endParaRPr lang="en-US" sz="700" dirty="0"/>
          </a:p>
        </p:txBody>
      </p:sp>
      <p:sp>
        <p:nvSpPr>
          <p:cNvPr id="73" name="Text 70"/>
          <p:cNvSpPr/>
          <p:nvPr/>
        </p:nvSpPr>
        <p:spPr>
          <a:xfrm>
            <a:off x="4937760" y="2761488"/>
            <a:ext cx="1746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Devis &amp; facturation</a:t>
            </a:r>
            <a:endParaRPr lang="en-US" sz="900" dirty="0"/>
          </a:p>
        </p:txBody>
      </p:sp>
      <p:sp>
        <p:nvSpPr>
          <p:cNvPr id="74" name="Text 71"/>
          <p:cNvSpPr/>
          <p:nvPr/>
        </p:nvSpPr>
        <p:spPr>
          <a:xfrm>
            <a:off x="4937760" y="3017520"/>
            <a:ext cx="1746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Soumission, suivi paiements, extras</a:t>
            </a:r>
            <a:endParaRPr lang="en-US" sz="750" dirty="0"/>
          </a:p>
        </p:txBody>
      </p:sp>
      <p:sp>
        <p:nvSpPr>
          <p:cNvPr id="75" name="Shape 72"/>
          <p:cNvSpPr/>
          <p:nvPr/>
        </p:nvSpPr>
        <p:spPr>
          <a:xfrm>
            <a:off x="6830568" y="2670048"/>
            <a:ext cx="2148840" cy="676656"/>
          </a:xfrm>
          <a:prstGeom prst="rect">
            <a:avLst/>
          </a:prstGeom>
          <a:solidFill>
            <a:srgbClr val="07091D"/>
          </a:solidFill>
          <a:ln w="12700">
            <a:solidFill>
              <a:srgbClr val="1D4E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6" name="Shape 73"/>
          <p:cNvSpPr/>
          <p:nvPr/>
        </p:nvSpPr>
        <p:spPr>
          <a:xfrm>
            <a:off x="6830568" y="2670048"/>
            <a:ext cx="2148840" cy="45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74"/>
          <p:cNvSpPr/>
          <p:nvPr/>
        </p:nvSpPr>
        <p:spPr>
          <a:xfrm>
            <a:off x="6903720" y="2761488"/>
            <a:ext cx="228600" cy="228600"/>
          </a:xfrm>
          <a:prstGeom prst="ellipse">
            <a:avLst/>
          </a:prstGeom>
          <a:solidFill>
            <a:srgbClr val="1D4ED8">
              <a:alpha val="30000"/>
            </a:srgbClr>
          </a:solidFill>
          <a:ln w="12700">
            <a:solidFill>
              <a:srgbClr val="1D4ED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5"/>
          <p:cNvSpPr/>
          <p:nvPr/>
        </p:nvSpPr>
        <p:spPr>
          <a:xfrm>
            <a:off x="6903720" y="276148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D4E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</a:t>
            </a:r>
            <a:endParaRPr lang="en-US" sz="700" dirty="0"/>
          </a:p>
        </p:txBody>
      </p:sp>
      <p:sp>
        <p:nvSpPr>
          <p:cNvPr id="79" name="Text 76"/>
          <p:cNvSpPr/>
          <p:nvPr/>
        </p:nvSpPr>
        <p:spPr>
          <a:xfrm>
            <a:off x="7178040" y="2761488"/>
            <a:ext cx="1746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Sous-traitants</a:t>
            </a:r>
            <a:endParaRPr lang="en-US" sz="900" dirty="0"/>
          </a:p>
        </p:txBody>
      </p:sp>
      <p:sp>
        <p:nvSpPr>
          <p:cNvPr id="80" name="Text 77"/>
          <p:cNvSpPr/>
          <p:nvPr/>
        </p:nvSpPr>
        <p:spPr>
          <a:xfrm>
            <a:off x="7178040" y="3017520"/>
            <a:ext cx="1746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Contrats, conformité RBQ, CNESST</a:t>
            </a:r>
            <a:endParaRPr lang="en-US" sz="750" dirty="0"/>
          </a:p>
        </p:txBody>
      </p:sp>
      <p:sp>
        <p:nvSpPr>
          <p:cNvPr id="81" name="Shape 78"/>
          <p:cNvSpPr/>
          <p:nvPr/>
        </p:nvSpPr>
        <p:spPr>
          <a:xfrm>
            <a:off x="109728" y="3401568"/>
            <a:ext cx="2148840" cy="676656"/>
          </a:xfrm>
          <a:prstGeom prst="rect">
            <a:avLst/>
          </a:prstGeom>
          <a:solidFill>
            <a:srgbClr val="07091D"/>
          </a:solidFill>
          <a:ln w="12700">
            <a:solidFill>
              <a:srgbClr val="0F766E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2" name="Shape 79"/>
          <p:cNvSpPr/>
          <p:nvPr/>
        </p:nvSpPr>
        <p:spPr>
          <a:xfrm>
            <a:off x="109728" y="3401568"/>
            <a:ext cx="2148840" cy="457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Shape 80"/>
          <p:cNvSpPr/>
          <p:nvPr/>
        </p:nvSpPr>
        <p:spPr>
          <a:xfrm>
            <a:off x="182880" y="3493008"/>
            <a:ext cx="228600" cy="228600"/>
          </a:xfrm>
          <a:prstGeom prst="ellipse">
            <a:avLst/>
          </a:prstGeom>
          <a:solidFill>
            <a:srgbClr val="0F766E">
              <a:alpha val="30000"/>
            </a:srgbClr>
          </a:solidFill>
          <a:ln w="12700">
            <a:solidFill>
              <a:srgbClr val="0F766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81"/>
          <p:cNvSpPr/>
          <p:nvPr/>
        </p:nvSpPr>
        <p:spPr>
          <a:xfrm>
            <a:off x="182880" y="349300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F76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13</a:t>
            </a:r>
            <a:endParaRPr lang="en-US" sz="700" dirty="0"/>
          </a:p>
        </p:txBody>
      </p:sp>
      <p:sp>
        <p:nvSpPr>
          <p:cNvPr id="85" name="Text 82"/>
          <p:cNvSpPr/>
          <p:nvPr/>
        </p:nvSpPr>
        <p:spPr>
          <a:xfrm>
            <a:off x="457200" y="3493008"/>
            <a:ext cx="1746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Budget &amp; rapports</a:t>
            </a:r>
            <a:endParaRPr lang="en-US" sz="900" dirty="0"/>
          </a:p>
        </p:txBody>
      </p:sp>
      <p:sp>
        <p:nvSpPr>
          <p:cNvPr id="86" name="Text 83"/>
          <p:cNvSpPr/>
          <p:nvPr/>
        </p:nvSpPr>
        <p:spPr>
          <a:xfrm>
            <a:off x="457200" y="3749040"/>
            <a:ext cx="1746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Marges, écarts, rapports exécutifs</a:t>
            </a:r>
            <a:endParaRPr lang="en-US" sz="750" dirty="0"/>
          </a:p>
        </p:txBody>
      </p:sp>
      <p:sp>
        <p:nvSpPr>
          <p:cNvPr id="87" name="Shape 84"/>
          <p:cNvSpPr/>
          <p:nvPr/>
        </p:nvSpPr>
        <p:spPr>
          <a:xfrm>
            <a:off x="2350008" y="3401568"/>
            <a:ext cx="2148840" cy="676656"/>
          </a:xfrm>
          <a:prstGeom prst="rect">
            <a:avLst/>
          </a:prstGeom>
          <a:solidFill>
            <a:srgbClr val="07091D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8" name="Shape 85"/>
          <p:cNvSpPr/>
          <p:nvPr/>
        </p:nvSpPr>
        <p:spPr>
          <a:xfrm>
            <a:off x="2350008" y="3401568"/>
            <a:ext cx="214884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Shape 86"/>
          <p:cNvSpPr/>
          <p:nvPr/>
        </p:nvSpPr>
        <p:spPr>
          <a:xfrm>
            <a:off x="2423160" y="3493008"/>
            <a:ext cx="228600" cy="228600"/>
          </a:xfrm>
          <a:prstGeom prst="ellipse">
            <a:avLst/>
          </a:prstGeom>
          <a:solidFill>
            <a:srgbClr val="7C3AED">
              <a:alpha val="30000"/>
            </a:srgbClr>
          </a:solidFill>
          <a:ln w="12700">
            <a:solidFill>
              <a:srgbClr val="7C3AED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Text 87"/>
          <p:cNvSpPr/>
          <p:nvPr/>
        </p:nvSpPr>
        <p:spPr>
          <a:xfrm>
            <a:off x="2423160" y="349300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7C3A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14</a:t>
            </a:r>
            <a:endParaRPr lang="en-US" sz="700" dirty="0"/>
          </a:p>
        </p:txBody>
      </p:sp>
      <p:sp>
        <p:nvSpPr>
          <p:cNvPr id="91" name="Text 88"/>
          <p:cNvSpPr/>
          <p:nvPr/>
        </p:nvSpPr>
        <p:spPr>
          <a:xfrm>
            <a:off x="2697480" y="3493008"/>
            <a:ext cx="1746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Permis &amp; conformité</a:t>
            </a:r>
            <a:endParaRPr lang="en-US" sz="900" dirty="0"/>
          </a:p>
        </p:txBody>
      </p:sp>
      <p:sp>
        <p:nvSpPr>
          <p:cNvPr id="92" name="Text 89"/>
          <p:cNvSpPr/>
          <p:nvPr/>
        </p:nvSpPr>
        <p:spPr>
          <a:xfrm>
            <a:off x="2697480" y="3749040"/>
            <a:ext cx="1746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Registre permis, alertes expiration</a:t>
            </a:r>
            <a:endParaRPr lang="en-US" sz="750" dirty="0"/>
          </a:p>
        </p:txBody>
      </p:sp>
      <p:sp>
        <p:nvSpPr>
          <p:cNvPr id="93" name="Shape 90"/>
          <p:cNvSpPr/>
          <p:nvPr/>
        </p:nvSpPr>
        <p:spPr>
          <a:xfrm>
            <a:off x="4590288" y="3401568"/>
            <a:ext cx="2148840" cy="676656"/>
          </a:xfrm>
          <a:prstGeom prst="rect">
            <a:avLst/>
          </a:prstGeom>
          <a:solidFill>
            <a:srgbClr val="07091D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4" name="Shape 91"/>
          <p:cNvSpPr/>
          <p:nvPr/>
        </p:nvSpPr>
        <p:spPr>
          <a:xfrm>
            <a:off x="4590288" y="3401568"/>
            <a:ext cx="214884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Shape 92"/>
          <p:cNvSpPr/>
          <p:nvPr/>
        </p:nvSpPr>
        <p:spPr>
          <a:xfrm>
            <a:off x="4663440" y="3493008"/>
            <a:ext cx="228600" cy="228600"/>
          </a:xfrm>
          <a:prstGeom prst="ellipse">
            <a:avLst/>
          </a:prstGeom>
          <a:solidFill>
            <a:srgbClr val="0891B2">
              <a:alpha val="30000"/>
            </a:srgbClr>
          </a:solidFill>
          <a:ln w="12700">
            <a:solidFill>
              <a:srgbClr val="0891B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Text 93"/>
          <p:cNvSpPr/>
          <p:nvPr/>
        </p:nvSpPr>
        <p:spPr>
          <a:xfrm>
            <a:off x="4663440" y="349300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891B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</a:t>
            </a:r>
            <a:endParaRPr lang="en-US" sz="700" dirty="0"/>
          </a:p>
        </p:txBody>
      </p:sp>
      <p:sp>
        <p:nvSpPr>
          <p:cNvPr id="97" name="Text 94"/>
          <p:cNvSpPr/>
          <p:nvPr/>
        </p:nvSpPr>
        <p:spPr>
          <a:xfrm>
            <a:off x="4937760" y="3493008"/>
            <a:ext cx="1746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Incidents SST</a:t>
            </a:r>
            <a:endParaRPr lang="en-US" sz="900" dirty="0"/>
          </a:p>
        </p:txBody>
      </p:sp>
      <p:sp>
        <p:nvSpPr>
          <p:cNvPr id="98" name="Text 95"/>
          <p:cNvSpPr/>
          <p:nvPr/>
        </p:nvSpPr>
        <p:spPr>
          <a:xfrm>
            <a:off x="4937760" y="3749040"/>
            <a:ext cx="1746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Signalement, registre, déclaration CNESST</a:t>
            </a:r>
            <a:endParaRPr lang="en-US" sz="750" dirty="0"/>
          </a:p>
        </p:txBody>
      </p:sp>
      <p:sp>
        <p:nvSpPr>
          <p:cNvPr id="99" name="Shape 96"/>
          <p:cNvSpPr/>
          <p:nvPr/>
        </p:nvSpPr>
        <p:spPr>
          <a:xfrm>
            <a:off x="6830568" y="3401568"/>
            <a:ext cx="2148840" cy="676656"/>
          </a:xfrm>
          <a:prstGeom prst="rect">
            <a:avLst/>
          </a:prstGeom>
          <a:solidFill>
            <a:srgbClr val="07091D"/>
          </a:solidFill>
          <a:ln w="12700">
            <a:solidFill>
              <a:srgbClr val="065F46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0" name="Shape 97"/>
          <p:cNvSpPr/>
          <p:nvPr/>
        </p:nvSpPr>
        <p:spPr>
          <a:xfrm>
            <a:off x="6830568" y="3401568"/>
            <a:ext cx="2148840" cy="4572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Shape 98"/>
          <p:cNvSpPr/>
          <p:nvPr/>
        </p:nvSpPr>
        <p:spPr>
          <a:xfrm>
            <a:off x="6903720" y="3493008"/>
            <a:ext cx="228600" cy="228600"/>
          </a:xfrm>
          <a:prstGeom prst="ellipse">
            <a:avLst/>
          </a:prstGeom>
          <a:solidFill>
            <a:srgbClr val="065F46">
              <a:alpha val="30000"/>
            </a:srgbClr>
          </a:solidFill>
          <a:ln w="12700">
            <a:solidFill>
              <a:srgbClr val="065F4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Text 99"/>
          <p:cNvSpPr/>
          <p:nvPr/>
        </p:nvSpPr>
        <p:spPr>
          <a:xfrm>
            <a:off x="6903720" y="349300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65F4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16</a:t>
            </a:r>
            <a:endParaRPr lang="en-US" sz="700" dirty="0"/>
          </a:p>
        </p:txBody>
      </p:sp>
      <p:sp>
        <p:nvSpPr>
          <p:cNvPr id="103" name="Text 100"/>
          <p:cNvSpPr/>
          <p:nvPr/>
        </p:nvSpPr>
        <p:spPr>
          <a:xfrm>
            <a:off x="7178040" y="3493008"/>
            <a:ext cx="1746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Plans &amp; dessins</a:t>
            </a:r>
            <a:endParaRPr lang="en-US" sz="900" dirty="0"/>
          </a:p>
        </p:txBody>
      </p:sp>
      <p:sp>
        <p:nvSpPr>
          <p:cNvPr id="104" name="Text 101"/>
          <p:cNvSpPr/>
          <p:nvPr/>
        </p:nvSpPr>
        <p:spPr>
          <a:xfrm>
            <a:off x="7178040" y="3749040"/>
            <a:ext cx="1746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Versions, approbations, accès terrain</a:t>
            </a:r>
            <a:endParaRPr lang="en-US" sz="750" dirty="0"/>
          </a:p>
        </p:txBody>
      </p:sp>
      <p:sp>
        <p:nvSpPr>
          <p:cNvPr id="105" name="Shape 102"/>
          <p:cNvSpPr/>
          <p:nvPr/>
        </p:nvSpPr>
        <p:spPr>
          <a:xfrm>
            <a:off x="109728" y="4133088"/>
            <a:ext cx="2148840" cy="676656"/>
          </a:xfrm>
          <a:prstGeom prst="rect">
            <a:avLst/>
          </a:prstGeom>
          <a:solidFill>
            <a:srgbClr val="07091D"/>
          </a:solidFill>
          <a:ln w="12700">
            <a:solidFill>
              <a:srgbClr val="92400E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6" name="Shape 103"/>
          <p:cNvSpPr/>
          <p:nvPr/>
        </p:nvSpPr>
        <p:spPr>
          <a:xfrm>
            <a:off x="109728" y="4133088"/>
            <a:ext cx="2148840" cy="45720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Shape 104"/>
          <p:cNvSpPr/>
          <p:nvPr/>
        </p:nvSpPr>
        <p:spPr>
          <a:xfrm>
            <a:off x="182880" y="4224528"/>
            <a:ext cx="228600" cy="228600"/>
          </a:xfrm>
          <a:prstGeom prst="ellipse">
            <a:avLst/>
          </a:prstGeom>
          <a:solidFill>
            <a:srgbClr val="92400E">
              <a:alpha val="30000"/>
            </a:srgbClr>
          </a:solidFill>
          <a:ln w="12700">
            <a:solidFill>
              <a:srgbClr val="92400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Text 105"/>
          <p:cNvSpPr/>
          <p:nvPr/>
        </p:nvSpPr>
        <p:spPr>
          <a:xfrm>
            <a:off x="182880" y="422452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92400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17</a:t>
            </a:r>
            <a:endParaRPr lang="en-US" sz="700" dirty="0"/>
          </a:p>
        </p:txBody>
      </p:sp>
      <p:sp>
        <p:nvSpPr>
          <p:cNvPr id="109" name="Text 106"/>
          <p:cNvSpPr/>
          <p:nvPr/>
        </p:nvSpPr>
        <p:spPr>
          <a:xfrm>
            <a:off x="457200" y="4224528"/>
            <a:ext cx="1746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Communication</a:t>
            </a:r>
            <a:endParaRPr lang="en-US" sz="900" dirty="0"/>
          </a:p>
        </p:txBody>
      </p:sp>
      <p:sp>
        <p:nvSpPr>
          <p:cNvPr id="110" name="Text 107"/>
          <p:cNvSpPr/>
          <p:nvPr/>
        </p:nvSpPr>
        <p:spPr>
          <a:xfrm>
            <a:off x="457200" y="4480560"/>
            <a:ext cx="1746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Messagerie par chantier, urgences, photos</a:t>
            </a:r>
            <a:endParaRPr lang="en-US" sz="750" dirty="0"/>
          </a:p>
        </p:txBody>
      </p:sp>
      <p:sp>
        <p:nvSpPr>
          <p:cNvPr id="111" name="Shape 108"/>
          <p:cNvSpPr/>
          <p:nvPr/>
        </p:nvSpPr>
        <p:spPr>
          <a:xfrm>
            <a:off x="2350008" y="4133088"/>
            <a:ext cx="2148840" cy="676656"/>
          </a:xfrm>
          <a:prstGeom prst="rect">
            <a:avLst/>
          </a:prstGeom>
          <a:solidFill>
            <a:srgbClr val="07091D"/>
          </a:solidFill>
          <a:ln w="12700">
            <a:solidFill>
              <a:srgbClr val="1E3A8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2" name="Shape 109"/>
          <p:cNvSpPr/>
          <p:nvPr/>
        </p:nvSpPr>
        <p:spPr>
          <a:xfrm>
            <a:off x="2350008" y="4133088"/>
            <a:ext cx="2148840" cy="4572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Shape 110"/>
          <p:cNvSpPr/>
          <p:nvPr/>
        </p:nvSpPr>
        <p:spPr>
          <a:xfrm>
            <a:off x="2423160" y="4224528"/>
            <a:ext cx="228600" cy="228600"/>
          </a:xfrm>
          <a:prstGeom prst="ellipse">
            <a:avLst/>
          </a:prstGeom>
          <a:solidFill>
            <a:srgbClr val="1E3A8A">
              <a:alpha val="30000"/>
            </a:srgbClr>
          </a:solidFill>
          <a:ln w="12700">
            <a:solidFill>
              <a:srgbClr val="1E3A8A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Text 111"/>
          <p:cNvSpPr/>
          <p:nvPr/>
        </p:nvSpPr>
        <p:spPr>
          <a:xfrm>
            <a:off x="2423160" y="422452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E3A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18</a:t>
            </a:r>
            <a:endParaRPr lang="en-US" sz="700" dirty="0"/>
          </a:p>
        </p:txBody>
      </p:sp>
      <p:sp>
        <p:nvSpPr>
          <p:cNvPr id="115" name="Text 112"/>
          <p:cNvSpPr/>
          <p:nvPr/>
        </p:nvSpPr>
        <p:spPr>
          <a:xfrm>
            <a:off x="2697480" y="4224528"/>
            <a:ext cx="1746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Portail client</a:t>
            </a:r>
            <a:endParaRPr lang="en-US" sz="900" dirty="0"/>
          </a:p>
        </p:txBody>
      </p:sp>
      <p:sp>
        <p:nvSpPr>
          <p:cNvPr id="116" name="Text 113"/>
          <p:cNvSpPr/>
          <p:nvPr/>
        </p:nvSpPr>
        <p:spPr>
          <a:xfrm>
            <a:off x="2697480" y="4480560"/>
            <a:ext cx="1746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Avancement, photos, factures — accès sécurisé</a:t>
            </a:r>
            <a:endParaRPr lang="en-US" sz="750" dirty="0"/>
          </a:p>
        </p:txBody>
      </p:sp>
      <p:sp>
        <p:nvSpPr>
          <p:cNvPr id="117" name="Shape 114"/>
          <p:cNvSpPr/>
          <p:nvPr/>
        </p:nvSpPr>
        <p:spPr>
          <a:xfrm>
            <a:off x="4590288" y="4133088"/>
            <a:ext cx="2148840" cy="676656"/>
          </a:xfrm>
          <a:prstGeom prst="rect">
            <a:avLst/>
          </a:prstGeom>
          <a:solidFill>
            <a:srgbClr val="07091D"/>
          </a:solidFill>
          <a:ln w="12700">
            <a:solidFill>
              <a:srgbClr val="0F766E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8" name="Shape 115"/>
          <p:cNvSpPr/>
          <p:nvPr/>
        </p:nvSpPr>
        <p:spPr>
          <a:xfrm>
            <a:off x="4590288" y="4133088"/>
            <a:ext cx="2148840" cy="457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Shape 116"/>
          <p:cNvSpPr/>
          <p:nvPr/>
        </p:nvSpPr>
        <p:spPr>
          <a:xfrm>
            <a:off x="4663440" y="4224528"/>
            <a:ext cx="228600" cy="228600"/>
          </a:xfrm>
          <a:prstGeom prst="ellipse">
            <a:avLst/>
          </a:prstGeom>
          <a:solidFill>
            <a:srgbClr val="0F766E">
              <a:alpha val="30000"/>
            </a:srgbClr>
          </a:solidFill>
          <a:ln w="12700">
            <a:solidFill>
              <a:srgbClr val="0F766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" name="Text 117"/>
          <p:cNvSpPr/>
          <p:nvPr/>
        </p:nvSpPr>
        <p:spPr>
          <a:xfrm>
            <a:off x="4663440" y="422452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F76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19</a:t>
            </a:r>
            <a:endParaRPr lang="en-US" sz="700" dirty="0"/>
          </a:p>
        </p:txBody>
      </p:sp>
      <p:sp>
        <p:nvSpPr>
          <p:cNvPr id="121" name="Text 118"/>
          <p:cNvSpPr/>
          <p:nvPr/>
        </p:nvSpPr>
        <p:spPr>
          <a:xfrm>
            <a:off x="4937760" y="4224528"/>
            <a:ext cx="1746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Rôles &amp; accès</a:t>
            </a:r>
            <a:endParaRPr lang="en-US" sz="900" dirty="0"/>
          </a:p>
        </p:txBody>
      </p:sp>
      <p:sp>
        <p:nvSpPr>
          <p:cNvPr id="122" name="Text 119"/>
          <p:cNvSpPr/>
          <p:nvPr/>
        </p:nvSpPr>
        <p:spPr>
          <a:xfrm>
            <a:off x="4937760" y="4480560"/>
            <a:ext cx="1746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Permissions, audit trail, intégrations API</a:t>
            </a:r>
            <a:endParaRPr lang="en-US" sz="750" dirty="0"/>
          </a:p>
        </p:txBody>
      </p:sp>
      <p:sp>
        <p:nvSpPr>
          <p:cNvPr id="123" name="Shape 12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7091D"/>
          </a:solidFill>
          <a:ln w="12700">
            <a:solidFill>
              <a:srgbClr val="0709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4" name="Shape 121"/>
          <p:cNvSpPr/>
          <p:nvPr/>
        </p:nvSpPr>
        <p:spPr>
          <a:xfrm>
            <a:off x="0" y="4846320"/>
            <a:ext cx="914400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5" name="Text 122"/>
          <p:cNvSpPr/>
          <p:nvPr/>
        </p:nvSpPr>
        <p:spPr>
          <a:xfrm>
            <a:off x="274320" y="487375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civicai.attentezero.ca  |  civicai.attentezero@outlook.com  |  905 809-7798</a:t>
            </a:r>
            <a:endParaRPr lang="en-US" sz="750" dirty="0"/>
          </a:p>
        </p:txBody>
      </p:sp>
      <p:sp>
        <p:nvSpPr>
          <p:cNvPr id="126" name="Text 123"/>
          <p:cNvSpPr/>
          <p:nvPr/>
        </p:nvSpPr>
        <p:spPr>
          <a:xfrm>
            <a:off x="8321040" y="487375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 / 20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9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7091D"/>
          </a:solidFill>
          <a:ln w="12700">
            <a:solidFill>
              <a:srgbClr val="0709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1143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109728"/>
            <a:ext cx="777240" cy="777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14630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Civic</a:t>
            </a:r>
            <a:r>
              <a:rPr lang="en-US" sz="2100" b="1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1051560" y="56692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00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Technologie au service de vos idées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4114800" y="73152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ERP — Plans tarifaires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4114800" y="68580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Abonnement mensuel sans engagement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274320" y="1234440"/>
            <a:ext cx="2834640" cy="3657600"/>
          </a:xfrm>
          <a:prstGeom prst="rect">
            <a:avLst/>
          </a:prstGeom>
          <a:solidFill>
            <a:srgbClr val="0F1D5C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274320" y="1234440"/>
            <a:ext cx="2834640" cy="8229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274320" y="129844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Starter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274320" y="163677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99$/mois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438912" y="2130552"/>
            <a:ext cx="118872" cy="1188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03504" y="209397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 utilisateurs inclus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38912" y="2459736"/>
            <a:ext cx="118872" cy="1188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03504" y="242316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 chantiers actifs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38912" y="2788920"/>
            <a:ext cx="118872" cy="1188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03504" y="275234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Feuilles de temps CCQ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438912" y="3118104"/>
            <a:ext cx="118872" cy="1188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03504" y="308152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Portail terrain mobile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438912" y="3447288"/>
            <a:ext cx="118872" cy="1188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603504" y="341071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 hors-ligne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38912" y="3776472"/>
            <a:ext cx="118872" cy="1188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03504" y="373989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Rapports journaliers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438912" y="4105656"/>
            <a:ext cx="118872" cy="1188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603504" y="406908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Support par courriel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438912" y="4434840"/>
            <a:ext cx="118872" cy="1188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603504" y="439826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Formation 2h en ligne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3218688" y="1234440"/>
            <a:ext cx="2834640" cy="3657600"/>
          </a:xfrm>
          <a:prstGeom prst="rect">
            <a:avLst/>
          </a:prstGeom>
          <a:solidFill>
            <a:srgbClr val="0F1D5C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3218688" y="1234440"/>
            <a:ext cx="2834640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3218688" y="1252728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⭐ PLUS POPULAIRE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3218688" y="1508760"/>
            <a:ext cx="2834640" cy="8229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3218688" y="157276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Professionnel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3218688" y="191109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249$/mois</a:t>
            </a:r>
            <a:endParaRPr lang="en-US" sz="1800" dirty="0"/>
          </a:p>
        </p:txBody>
      </p:sp>
      <p:sp>
        <p:nvSpPr>
          <p:cNvPr id="35" name="Shape 32"/>
          <p:cNvSpPr/>
          <p:nvPr/>
        </p:nvSpPr>
        <p:spPr>
          <a:xfrm>
            <a:off x="3383280" y="2404872"/>
            <a:ext cx="118872" cy="1188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3547872" y="236829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20 utilisateurs inclus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3383280" y="2734056"/>
            <a:ext cx="118872" cy="1188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3547872" y="269748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10 chantiers actifs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3383280" y="3063240"/>
            <a:ext cx="118872" cy="1188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3547872" y="302666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Tous les modules inclus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3383280" y="3392424"/>
            <a:ext cx="118872" cy="1188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3547872" y="335584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Portail client inclus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3383280" y="3721608"/>
            <a:ext cx="118872" cy="1188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1"/>
          <p:cNvSpPr/>
          <p:nvPr/>
        </p:nvSpPr>
        <p:spPr>
          <a:xfrm>
            <a:off x="3547872" y="368503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Gantt &amp; planification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3383280" y="4050792"/>
            <a:ext cx="118872" cy="1188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3"/>
          <p:cNvSpPr/>
          <p:nvPr/>
        </p:nvSpPr>
        <p:spPr>
          <a:xfrm>
            <a:off x="3547872" y="401421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Recrutement RH kanban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3383280" y="4379976"/>
            <a:ext cx="118872" cy="1188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5"/>
          <p:cNvSpPr/>
          <p:nvPr/>
        </p:nvSpPr>
        <p:spPr>
          <a:xfrm>
            <a:off x="3547872" y="434340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Gestion sous-traitants</a:t>
            </a:r>
            <a:endParaRPr lang="en-US" sz="850" dirty="0"/>
          </a:p>
        </p:txBody>
      </p:sp>
      <p:sp>
        <p:nvSpPr>
          <p:cNvPr id="49" name="Shape 46"/>
          <p:cNvSpPr/>
          <p:nvPr/>
        </p:nvSpPr>
        <p:spPr>
          <a:xfrm>
            <a:off x="3383280" y="4709160"/>
            <a:ext cx="118872" cy="1188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7"/>
          <p:cNvSpPr/>
          <p:nvPr/>
        </p:nvSpPr>
        <p:spPr>
          <a:xfrm>
            <a:off x="3547872" y="467258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Formation 4h en ligne</a:t>
            </a:r>
            <a:endParaRPr lang="en-US" sz="850" dirty="0"/>
          </a:p>
        </p:txBody>
      </p:sp>
      <p:sp>
        <p:nvSpPr>
          <p:cNvPr id="51" name="Shape 48"/>
          <p:cNvSpPr/>
          <p:nvPr/>
        </p:nvSpPr>
        <p:spPr>
          <a:xfrm>
            <a:off x="6163056" y="1234440"/>
            <a:ext cx="2834640" cy="3657600"/>
          </a:xfrm>
          <a:prstGeom prst="rect">
            <a:avLst/>
          </a:prstGeom>
          <a:solidFill>
            <a:srgbClr val="0F1D5C"/>
          </a:solidFill>
          <a:ln w="12700">
            <a:solidFill>
              <a:srgbClr val="0F766E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2" name="Shape 49"/>
          <p:cNvSpPr/>
          <p:nvPr/>
        </p:nvSpPr>
        <p:spPr>
          <a:xfrm>
            <a:off x="6163056" y="1234440"/>
            <a:ext cx="2834640" cy="8229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0"/>
          <p:cNvSpPr/>
          <p:nvPr/>
        </p:nvSpPr>
        <p:spPr>
          <a:xfrm>
            <a:off x="6163056" y="129844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Entreprise</a:t>
            </a:r>
            <a:endParaRPr lang="en-US" sz="1400" dirty="0"/>
          </a:p>
        </p:txBody>
      </p:sp>
      <p:sp>
        <p:nvSpPr>
          <p:cNvPr id="54" name="Text 51"/>
          <p:cNvSpPr/>
          <p:nvPr/>
        </p:nvSpPr>
        <p:spPr>
          <a:xfrm>
            <a:off x="6163056" y="163677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499$/mois</a:t>
            </a:r>
            <a:endParaRPr lang="en-US" sz="1800" dirty="0"/>
          </a:p>
        </p:txBody>
      </p:sp>
      <p:sp>
        <p:nvSpPr>
          <p:cNvPr id="55" name="Shape 52"/>
          <p:cNvSpPr/>
          <p:nvPr/>
        </p:nvSpPr>
        <p:spPr>
          <a:xfrm>
            <a:off x="6327648" y="2130552"/>
            <a:ext cx="118872" cy="11887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3"/>
          <p:cNvSpPr/>
          <p:nvPr/>
        </p:nvSpPr>
        <p:spPr>
          <a:xfrm>
            <a:off x="6492240" y="209397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Utilisateurs illimités</a:t>
            </a:r>
            <a:endParaRPr lang="en-US" sz="850" dirty="0"/>
          </a:p>
        </p:txBody>
      </p:sp>
      <p:sp>
        <p:nvSpPr>
          <p:cNvPr id="57" name="Shape 54"/>
          <p:cNvSpPr/>
          <p:nvPr/>
        </p:nvSpPr>
        <p:spPr>
          <a:xfrm>
            <a:off x="6327648" y="2459736"/>
            <a:ext cx="118872" cy="11887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5"/>
          <p:cNvSpPr/>
          <p:nvPr/>
        </p:nvSpPr>
        <p:spPr>
          <a:xfrm>
            <a:off x="6492240" y="242316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Chantiers illimités</a:t>
            </a:r>
            <a:endParaRPr lang="en-US" sz="850" dirty="0"/>
          </a:p>
        </p:txBody>
      </p:sp>
      <p:sp>
        <p:nvSpPr>
          <p:cNvPr id="59" name="Shape 56"/>
          <p:cNvSpPr/>
          <p:nvPr/>
        </p:nvSpPr>
        <p:spPr>
          <a:xfrm>
            <a:off x="6327648" y="2788920"/>
            <a:ext cx="118872" cy="11887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7"/>
          <p:cNvSpPr/>
          <p:nvPr/>
        </p:nvSpPr>
        <p:spPr>
          <a:xfrm>
            <a:off x="6492240" y="275234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Solution 100% sur mesure</a:t>
            </a:r>
            <a:endParaRPr lang="en-US" sz="850" dirty="0"/>
          </a:p>
        </p:txBody>
      </p:sp>
      <p:sp>
        <p:nvSpPr>
          <p:cNvPr id="61" name="Shape 58"/>
          <p:cNvSpPr/>
          <p:nvPr/>
        </p:nvSpPr>
        <p:spPr>
          <a:xfrm>
            <a:off x="6327648" y="3118104"/>
            <a:ext cx="118872" cy="11887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59"/>
          <p:cNvSpPr/>
          <p:nvPr/>
        </p:nvSpPr>
        <p:spPr>
          <a:xfrm>
            <a:off x="6492240" y="308152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Intégrations comptables</a:t>
            </a:r>
            <a:endParaRPr lang="en-US" sz="850" dirty="0"/>
          </a:p>
        </p:txBody>
      </p:sp>
      <p:sp>
        <p:nvSpPr>
          <p:cNvPr id="63" name="Shape 60"/>
          <p:cNvSpPr/>
          <p:nvPr/>
        </p:nvSpPr>
        <p:spPr>
          <a:xfrm>
            <a:off x="6327648" y="3447288"/>
            <a:ext cx="118872" cy="11887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1"/>
          <p:cNvSpPr/>
          <p:nvPr/>
        </p:nvSpPr>
        <p:spPr>
          <a:xfrm>
            <a:off x="6492240" y="341071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API sur mesure</a:t>
            </a:r>
            <a:endParaRPr lang="en-US" sz="850" dirty="0"/>
          </a:p>
        </p:txBody>
      </p:sp>
      <p:sp>
        <p:nvSpPr>
          <p:cNvPr id="65" name="Shape 62"/>
          <p:cNvSpPr/>
          <p:nvPr/>
        </p:nvSpPr>
        <p:spPr>
          <a:xfrm>
            <a:off x="6327648" y="3776472"/>
            <a:ext cx="118872" cy="11887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3"/>
          <p:cNvSpPr/>
          <p:nvPr/>
        </p:nvSpPr>
        <p:spPr>
          <a:xfrm>
            <a:off x="6492240" y="373989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Support téléphonique</a:t>
            </a:r>
            <a:endParaRPr lang="en-US" sz="850" dirty="0"/>
          </a:p>
        </p:txBody>
      </p:sp>
      <p:sp>
        <p:nvSpPr>
          <p:cNvPr id="67" name="Shape 64"/>
          <p:cNvSpPr/>
          <p:nvPr/>
        </p:nvSpPr>
        <p:spPr>
          <a:xfrm>
            <a:off x="6327648" y="4105656"/>
            <a:ext cx="118872" cy="11887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5"/>
          <p:cNvSpPr/>
          <p:nvPr/>
        </p:nvSpPr>
        <p:spPr>
          <a:xfrm>
            <a:off x="6492240" y="406908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Gestionnaire dédié</a:t>
            </a:r>
            <a:endParaRPr lang="en-US" sz="850" dirty="0"/>
          </a:p>
        </p:txBody>
      </p:sp>
      <p:sp>
        <p:nvSpPr>
          <p:cNvPr id="69" name="Shape 66"/>
          <p:cNvSpPr/>
          <p:nvPr/>
        </p:nvSpPr>
        <p:spPr>
          <a:xfrm>
            <a:off x="6327648" y="4434840"/>
            <a:ext cx="118872" cy="11887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7"/>
          <p:cNvSpPr/>
          <p:nvPr/>
        </p:nvSpPr>
        <p:spPr>
          <a:xfrm>
            <a:off x="6492240" y="439826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Formation sur site incluse</a:t>
            </a:r>
            <a:endParaRPr lang="en-US" sz="850" dirty="0"/>
          </a:p>
        </p:txBody>
      </p:sp>
      <p:sp>
        <p:nvSpPr>
          <p:cNvPr id="71" name="Text 68"/>
          <p:cNvSpPr/>
          <p:nvPr/>
        </p:nvSpPr>
        <p:spPr>
          <a:xfrm>
            <a:off x="274320" y="482803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 mois offerts pour tout abonnement annuel  ·  Frais d'installation offerts — offre de lancement</a:t>
            </a:r>
            <a:endParaRPr lang="en-US" sz="800" dirty="0"/>
          </a:p>
        </p:txBody>
      </p:sp>
      <p:sp>
        <p:nvSpPr>
          <p:cNvPr id="72" name="Shape 6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7091D"/>
          </a:solidFill>
          <a:ln w="12700">
            <a:solidFill>
              <a:srgbClr val="0709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0"/>
          <p:cNvSpPr/>
          <p:nvPr/>
        </p:nvSpPr>
        <p:spPr>
          <a:xfrm>
            <a:off x="0" y="4846320"/>
            <a:ext cx="914400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1"/>
          <p:cNvSpPr/>
          <p:nvPr/>
        </p:nvSpPr>
        <p:spPr>
          <a:xfrm>
            <a:off x="274320" y="487375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civicai.attentezero.ca  |  civicai.attentezero@outlook.com  |  905 809-7798</a:t>
            </a:r>
            <a:endParaRPr lang="en-US" sz="750" dirty="0"/>
          </a:p>
        </p:txBody>
      </p:sp>
      <p:sp>
        <p:nvSpPr>
          <p:cNvPr id="75" name="Text 72"/>
          <p:cNvSpPr/>
          <p:nvPr/>
        </p:nvSpPr>
        <p:spPr>
          <a:xfrm>
            <a:off x="8321040" y="487375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 / 20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5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-1371600"/>
            <a:ext cx="6400800" cy="6400800"/>
          </a:xfrm>
          <a:prstGeom prst="ellipse">
            <a:avLst/>
          </a:prstGeom>
          <a:solidFill>
            <a:srgbClr val="1A0A4A">
              <a:alpha val="50000"/>
            </a:srgbClr>
          </a:solidFill>
          <a:ln w="12700">
            <a:solidFill>
              <a:srgbClr val="1A0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7091D"/>
          </a:solidFill>
          <a:ln w="12700">
            <a:solidFill>
              <a:srgbClr val="0709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4864" cy="1143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109728"/>
            <a:ext cx="777240" cy="777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14630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Civic</a:t>
            </a:r>
            <a:r>
              <a:rPr lang="en-US" sz="2100" b="1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051560" y="56692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00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Technologie au service de vos idées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4114800" y="73152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OFFRE 02 — Digitalisation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4114800" y="68580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Transformez votre entreprise en numérique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0" y="1143000"/>
            <a:ext cx="54864" cy="3703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274320" y="1261872"/>
            <a:ext cx="411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Passez au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numérique.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Simple et rapide.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274320" y="2670048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Vos processus sur papier et Excel coûtent du temps et de l'argent. Nous les transformons en solutions numériques modernes: sites web, automatisation, tableaux de bord et outils accessibles depuis votre téléphone.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937760" y="1280160"/>
            <a:ext cx="1005840" cy="1371600"/>
          </a:xfrm>
          <a:prstGeom prst="rect">
            <a:avLst/>
          </a:prstGeom>
          <a:solidFill>
            <a:srgbClr val="1A0A4A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937760" y="1353312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78B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80%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4937760" y="192024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 PME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sans outil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numérique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6016752" y="1280160"/>
            <a:ext cx="1005840" cy="1371600"/>
          </a:xfrm>
          <a:prstGeom prst="rect">
            <a:avLst/>
          </a:prstGeom>
          <a:solidFill>
            <a:srgbClr val="1A0A4A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016752" y="1353312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78B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6h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6016752" y="192024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Économisées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 semaine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 moyenne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7095744" y="1280160"/>
            <a:ext cx="1005840" cy="1371600"/>
          </a:xfrm>
          <a:prstGeom prst="rect">
            <a:avLst/>
          </a:prstGeom>
          <a:solidFill>
            <a:srgbClr val="1A0A4A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7095744" y="1353312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78B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60j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7095744" y="192024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Pour voir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 retour sur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investissement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8174736" y="1280160"/>
            <a:ext cx="1005840" cy="1371600"/>
          </a:xfrm>
          <a:prstGeom prst="rect">
            <a:avLst/>
          </a:prstGeom>
          <a:solidFill>
            <a:srgbClr val="1A0A4A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8174736" y="1353312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78B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∞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8174736" y="192024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Accès mobile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sur tous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les appareils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4937760" y="28163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78B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 que nous digitalisons: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4937760" y="3127248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5120640" y="309067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Rapports et formulaires papier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4937760" y="3456432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5120640" y="341985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Feuilles Excel et fichiers éparpillés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4937760" y="3785616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5120640" y="37490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Processus manuels et répétitifs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4937760" y="4114800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5120640" y="407822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Communications par texto/courriel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4937760" y="4443984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5120640" y="44074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Tableaux de bord inexistants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7091D"/>
          </a:solidFill>
          <a:ln w="12700">
            <a:solidFill>
              <a:srgbClr val="0709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0" y="4846320"/>
            <a:ext cx="914400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274320" y="487375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civicai.attentezero.ca  |  civicai.attentezero@outlook.com  |  905 809-7798</a:t>
            </a:r>
            <a:endParaRPr lang="en-US" sz="750" dirty="0"/>
          </a:p>
        </p:txBody>
      </p:sp>
      <p:sp>
        <p:nvSpPr>
          <p:cNvPr id="39" name="Text 36"/>
          <p:cNvSpPr/>
          <p:nvPr/>
        </p:nvSpPr>
        <p:spPr>
          <a:xfrm>
            <a:off x="8321040" y="487375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/ 20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7091D"/>
          </a:solidFill>
          <a:ln w="12700">
            <a:solidFill>
              <a:srgbClr val="0709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1143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109728"/>
            <a:ext cx="777240" cy="777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14630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Civic</a:t>
            </a:r>
            <a:r>
              <a:rPr lang="en-US" sz="2100" b="1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1051560" y="56692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00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Technologie au service de vos idées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4114800" y="73152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Développement web — Sites sur mesure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4114800" y="68580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Du vitrine au portail professionnel complet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164592" y="1234440"/>
            <a:ext cx="28346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164592" y="1234440"/>
            <a:ext cx="283464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164592" y="1234440"/>
            <a:ext cx="2834640" cy="658368"/>
          </a:xfrm>
          <a:prstGeom prst="rect">
            <a:avLst/>
          </a:prstGeom>
          <a:solidFill>
            <a:srgbClr val="2563EB">
              <a:alpha val="12000"/>
            </a:srgbClr>
          </a:solidFill>
          <a:ln w="12700">
            <a:solidFill>
              <a:srgbClr val="2563E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274320" y="1298448"/>
            <a:ext cx="2615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Site vitrine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274320" y="1664208"/>
            <a:ext cx="26151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Présentez votre entreprise, vos services et vos réalisations avec un design moderne et professionnel qui inspire confiance.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274320" y="2487168"/>
            <a:ext cx="2615184" cy="274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274320" y="2578608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29768" y="2551176"/>
            <a:ext cx="2459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Design sur mesure à votre image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274320" y="2880360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429768" y="2852928"/>
            <a:ext cx="2459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Responsive mobile &amp; tablette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274320" y="318211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429768" y="3154680"/>
            <a:ext cx="2459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SEO optimisé dès le lancement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274320" y="3483864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429768" y="3456432"/>
            <a:ext cx="2459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Formulaire de contact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274320" y="3785616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429768" y="3758184"/>
            <a:ext cx="2459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Galerie photos &amp; réalisations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274320" y="4087368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429768" y="4059936"/>
            <a:ext cx="2459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Intégration réseaux sociaux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164592" y="4407408"/>
            <a:ext cx="2834640" cy="4846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164592" y="444398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À partir de 800$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3154680" y="1234440"/>
            <a:ext cx="28346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3154680" y="1234440"/>
            <a:ext cx="2834640" cy="640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3154680" y="1234440"/>
            <a:ext cx="2834640" cy="658368"/>
          </a:xfrm>
          <a:prstGeom prst="rect">
            <a:avLst/>
          </a:prstGeom>
          <a:solidFill>
            <a:srgbClr val="0F766E">
              <a:alpha val="12000"/>
            </a:srgbClr>
          </a:solidFill>
          <a:ln w="12700">
            <a:solidFill>
              <a:srgbClr val="0F766E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3264408" y="1298448"/>
            <a:ext cx="2615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76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Site e-commerce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3264408" y="1664208"/>
            <a:ext cx="26151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Vendez vos produits ou services en ligne avec une boutique complète, sécurisée et facile à gérer.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3264408" y="2487168"/>
            <a:ext cx="2615184" cy="2743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3264408" y="2578608"/>
            <a:ext cx="109728" cy="10972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3419856" y="2551176"/>
            <a:ext cx="2459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Catalogue produits complet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3264408" y="2880360"/>
            <a:ext cx="109728" cy="10972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3419856" y="2852928"/>
            <a:ext cx="2459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Paiement sécurisé (Stripe/PayPal)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3264408" y="3182112"/>
            <a:ext cx="109728" cy="10972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3419856" y="3154680"/>
            <a:ext cx="2459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Gestion des commandes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3264408" y="3483864"/>
            <a:ext cx="109728" cy="10972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3419856" y="3456432"/>
            <a:ext cx="2459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Suivi des livraisons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3264408" y="3785616"/>
            <a:ext cx="109728" cy="10972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1"/>
          <p:cNvSpPr/>
          <p:nvPr/>
        </p:nvSpPr>
        <p:spPr>
          <a:xfrm>
            <a:off x="3419856" y="3758184"/>
            <a:ext cx="2459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Paniers abandonnés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3264408" y="4087368"/>
            <a:ext cx="109728" cy="10972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3"/>
          <p:cNvSpPr/>
          <p:nvPr/>
        </p:nvSpPr>
        <p:spPr>
          <a:xfrm>
            <a:off x="3419856" y="4059936"/>
            <a:ext cx="2459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Tableau de bord ventes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3154680" y="4407408"/>
            <a:ext cx="2834640" cy="48463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5"/>
          <p:cNvSpPr/>
          <p:nvPr/>
        </p:nvSpPr>
        <p:spPr>
          <a:xfrm>
            <a:off x="3154680" y="444398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À partir de 1 500$</a:t>
            </a:r>
            <a:endParaRPr lang="en-US" sz="1300" dirty="0"/>
          </a:p>
        </p:txBody>
      </p:sp>
      <p:sp>
        <p:nvSpPr>
          <p:cNvPr id="49" name="Shape 46"/>
          <p:cNvSpPr/>
          <p:nvPr/>
        </p:nvSpPr>
        <p:spPr>
          <a:xfrm>
            <a:off x="6144768" y="1234440"/>
            <a:ext cx="28346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0" name="Shape 47"/>
          <p:cNvSpPr/>
          <p:nvPr/>
        </p:nvSpPr>
        <p:spPr>
          <a:xfrm>
            <a:off x="6144768" y="1234440"/>
            <a:ext cx="283464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8"/>
          <p:cNvSpPr/>
          <p:nvPr/>
        </p:nvSpPr>
        <p:spPr>
          <a:xfrm>
            <a:off x="6144768" y="1234440"/>
            <a:ext cx="2834640" cy="658368"/>
          </a:xfrm>
          <a:prstGeom prst="rect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49"/>
          <p:cNvSpPr/>
          <p:nvPr/>
        </p:nvSpPr>
        <p:spPr>
          <a:xfrm>
            <a:off x="6254496" y="1298448"/>
            <a:ext cx="2615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Portail &amp; application web</a:t>
            </a:r>
            <a:endParaRPr lang="en-US" sz="1300" dirty="0"/>
          </a:p>
        </p:txBody>
      </p:sp>
      <p:sp>
        <p:nvSpPr>
          <p:cNvPr id="53" name="Text 50"/>
          <p:cNvSpPr/>
          <p:nvPr/>
        </p:nvSpPr>
        <p:spPr>
          <a:xfrm>
            <a:off x="6254496" y="1664208"/>
            <a:ext cx="26151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Une application web sur mesure pour gérer vos opérations, vos clients ou votre équipe — adaptée à vos besoins précis.</a:t>
            </a:r>
            <a:endParaRPr lang="en-US" sz="850" dirty="0"/>
          </a:p>
        </p:txBody>
      </p:sp>
      <p:sp>
        <p:nvSpPr>
          <p:cNvPr id="54" name="Shape 51"/>
          <p:cNvSpPr/>
          <p:nvPr/>
        </p:nvSpPr>
        <p:spPr>
          <a:xfrm>
            <a:off x="6254496" y="2487168"/>
            <a:ext cx="2615184" cy="27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2"/>
          <p:cNvSpPr/>
          <p:nvPr/>
        </p:nvSpPr>
        <p:spPr>
          <a:xfrm>
            <a:off x="6254496" y="2578608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3"/>
          <p:cNvSpPr/>
          <p:nvPr/>
        </p:nvSpPr>
        <p:spPr>
          <a:xfrm>
            <a:off x="6409944" y="2551176"/>
            <a:ext cx="2459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Développement sur mesure</a:t>
            </a:r>
            <a:endParaRPr lang="en-US" sz="850" dirty="0"/>
          </a:p>
        </p:txBody>
      </p:sp>
      <p:sp>
        <p:nvSpPr>
          <p:cNvPr id="57" name="Shape 54"/>
          <p:cNvSpPr/>
          <p:nvPr/>
        </p:nvSpPr>
        <p:spPr>
          <a:xfrm>
            <a:off x="6254496" y="2880360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5"/>
          <p:cNvSpPr/>
          <p:nvPr/>
        </p:nvSpPr>
        <p:spPr>
          <a:xfrm>
            <a:off x="6409944" y="2852928"/>
            <a:ext cx="2459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Authentification sécurisée</a:t>
            </a:r>
            <a:endParaRPr lang="en-US" sz="850" dirty="0"/>
          </a:p>
        </p:txBody>
      </p:sp>
      <p:sp>
        <p:nvSpPr>
          <p:cNvPr id="59" name="Shape 56"/>
          <p:cNvSpPr/>
          <p:nvPr/>
        </p:nvSpPr>
        <p:spPr>
          <a:xfrm>
            <a:off x="6254496" y="3182112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7"/>
          <p:cNvSpPr/>
          <p:nvPr/>
        </p:nvSpPr>
        <p:spPr>
          <a:xfrm>
            <a:off x="6409944" y="3154680"/>
            <a:ext cx="2459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Tableau de bord personnalisé</a:t>
            </a:r>
            <a:endParaRPr lang="en-US" sz="850" dirty="0"/>
          </a:p>
        </p:txBody>
      </p:sp>
      <p:sp>
        <p:nvSpPr>
          <p:cNvPr id="61" name="Shape 58"/>
          <p:cNvSpPr/>
          <p:nvPr/>
        </p:nvSpPr>
        <p:spPr>
          <a:xfrm>
            <a:off x="6254496" y="3483864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59"/>
          <p:cNvSpPr/>
          <p:nvPr/>
        </p:nvSpPr>
        <p:spPr>
          <a:xfrm>
            <a:off x="6409944" y="3456432"/>
            <a:ext cx="2459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Gestion des utilisateurs</a:t>
            </a:r>
            <a:endParaRPr lang="en-US" sz="850" dirty="0"/>
          </a:p>
        </p:txBody>
      </p:sp>
      <p:sp>
        <p:nvSpPr>
          <p:cNvPr id="63" name="Shape 60"/>
          <p:cNvSpPr/>
          <p:nvPr/>
        </p:nvSpPr>
        <p:spPr>
          <a:xfrm>
            <a:off x="6254496" y="3785616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1"/>
          <p:cNvSpPr/>
          <p:nvPr/>
        </p:nvSpPr>
        <p:spPr>
          <a:xfrm>
            <a:off x="6409944" y="3758184"/>
            <a:ext cx="2459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Intégrations API</a:t>
            </a:r>
            <a:endParaRPr lang="en-US" sz="850" dirty="0"/>
          </a:p>
        </p:txBody>
      </p:sp>
      <p:sp>
        <p:nvSpPr>
          <p:cNvPr id="65" name="Shape 62"/>
          <p:cNvSpPr/>
          <p:nvPr/>
        </p:nvSpPr>
        <p:spPr>
          <a:xfrm>
            <a:off x="6254496" y="4087368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3"/>
          <p:cNvSpPr/>
          <p:nvPr/>
        </p:nvSpPr>
        <p:spPr>
          <a:xfrm>
            <a:off x="6409944" y="4059936"/>
            <a:ext cx="2459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 mobile inclus</a:t>
            </a:r>
            <a:endParaRPr lang="en-US" sz="850" dirty="0"/>
          </a:p>
        </p:txBody>
      </p:sp>
      <p:sp>
        <p:nvSpPr>
          <p:cNvPr id="67" name="Shape 64"/>
          <p:cNvSpPr/>
          <p:nvPr/>
        </p:nvSpPr>
        <p:spPr>
          <a:xfrm>
            <a:off x="6144768" y="4407408"/>
            <a:ext cx="2834640" cy="4846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5"/>
          <p:cNvSpPr/>
          <p:nvPr/>
        </p:nvSpPr>
        <p:spPr>
          <a:xfrm>
            <a:off x="6144768" y="444398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À partir de 2 500$</a:t>
            </a:r>
            <a:endParaRPr lang="en-US" sz="1300" dirty="0"/>
          </a:p>
        </p:txBody>
      </p:sp>
      <p:sp>
        <p:nvSpPr>
          <p:cNvPr id="69" name="Text 66"/>
          <p:cNvSpPr/>
          <p:nvPr/>
        </p:nvSpPr>
        <p:spPr>
          <a:xfrm>
            <a:off x="274320" y="482803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Tous nos sites incluent: hébergement 1 an offert · Formation à la mise à jour · Support technique 3 mois</a:t>
            </a:r>
            <a:endParaRPr lang="en-US" sz="800" dirty="0"/>
          </a:p>
        </p:txBody>
      </p:sp>
      <p:sp>
        <p:nvSpPr>
          <p:cNvPr id="70" name="Shape 6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7091D"/>
          </a:solidFill>
          <a:ln w="12700">
            <a:solidFill>
              <a:srgbClr val="0709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8"/>
          <p:cNvSpPr/>
          <p:nvPr/>
        </p:nvSpPr>
        <p:spPr>
          <a:xfrm>
            <a:off x="0" y="4846320"/>
            <a:ext cx="914400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69"/>
          <p:cNvSpPr/>
          <p:nvPr/>
        </p:nvSpPr>
        <p:spPr>
          <a:xfrm>
            <a:off x="274320" y="487375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civicai.attentezero.ca  |  civicai.attentezero@outlook.com  |  905 809-7798</a:t>
            </a:r>
            <a:endParaRPr lang="en-US" sz="750" dirty="0"/>
          </a:p>
        </p:txBody>
      </p:sp>
      <p:sp>
        <p:nvSpPr>
          <p:cNvPr id="73" name="Text 70"/>
          <p:cNvSpPr/>
          <p:nvPr/>
        </p:nvSpPr>
        <p:spPr>
          <a:xfrm>
            <a:off x="8321040" y="487375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 / 20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7091D"/>
          </a:solidFill>
          <a:ln w="12700">
            <a:solidFill>
              <a:srgbClr val="0709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1143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109728"/>
            <a:ext cx="777240" cy="777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14630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Civic</a:t>
            </a:r>
            <a:r>
              <a:rPr lang="en-US" sz="2100" b="1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1051560" y="56692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00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Technologie au service de vos idées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4114800" y="73152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Automatisation des processus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4114800" y="68580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Gagnez des heures chaque semaine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182880" y="1261872"/>
            <a:ext cx="42976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182880" y="1261872"/>
            <a:ext cx="54864" cy="1600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47472" y="135331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7091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Automatisation des formulaires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47472" y="1664208"/>
            <a:ext cx="2194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Transformez vos formulaires papier en formulaires numériques envoyés, traités et archivés automatiquement.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2670048" y="166420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Exemples: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2670048" y="1901952"/>
            <a:ext cx="91440" cy="914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2807208" y="1874520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Demandes de service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2670048" y="2157984"/>
            <a:ext cx="91440" cy="914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2807208" y="2130552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Rapports d'inspection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2670048" y="2414016"/>
            <a:ext cx="91440" cy="914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2807208" y="2386584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Bons de travail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2670048" y="2670048"/>
            <a:ext cx="91440" cy="914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2807208" y="2642616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Fiches employés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4663440" y="1261872"/>
            <a:ext cx="42976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4663440" y="1261872"/>
            <a:ext cx="54864" cy="1600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4828032" y="135331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7091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Flux de travail automatisés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828032" y="1664208"/>
            <a:ext cx="2194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Créez des séquences automatiques: réception d'une demande → notification → traitement → confirmation → archivage.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7150608" y="166420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Exemples: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7150608" y="1901952"/>
            <a:ext cx="91440" cy="914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7287768" y="1874520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Approbation de devis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7150608" y="2157984"/>
            <a:ext cx="91440" cy="914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7287768" y="2130552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Suivi de commandes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7150608" y="2414016"/>
            <a:ext cx="91440" cy="914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7287768" y="2386584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Relances clients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7150608" y="2670048"/>
            <a:ext cx="91440" cy="914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7287768" y="2642616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Alertes de stock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182880" y="3127248"/>
            <a:ext cx="42976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182880" y="3127248"/>
            <a:ext cx="54864" cy="1600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347472" y="321868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7091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Intégration de systèmes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347472" y="3529584"/>
            <a:ext cx="2194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Connectez vos outils existants entre eux pour éliminer la double saisie et les erreurs de transfert d'informations.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2670048" y="352958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Exemples: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2670048" y="3767328"/>
            <a:ext cx="91440" cy="914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2807208" y="3739896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CRM ↔ comptabilité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2670048" y="4023360"/>
            <a:ext cx="91440" cy="914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2807208" y="3995928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Formulaires ↔ base de données</a:t>
            </a:r>
            <a:endParaRPr lang="en-US" sz="800" dirty="0"/>
          </a:p>
        </p:txBody>
      </p:sp>
      <p:sp>
        <p:nvSpPr>
          <p:cNvPr id="44" name="Shape 41"/>
          <p:cNvSpPr/>
          <p:nvPr/>
        </p:nvSpPr>
        <p:spPr>
          <a:xfrm>
            <a:off x="2670048" y="4279392"/>
            <a:ext cx="91440" cy="914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/>
          <p:nvPr/>
        </p:nvSpPr>
        <p:spPr>
          <a:xfrm>
            <a:off x="2807208" y="4251960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Email ↔ CRM</a:t>
            </a:r>
            <a:endParaRPr lang="en-US" sz="800" dirty="0"/>
          </a:p>
        </p:txBody>
      </p:sp>
      <p:sp>
        <p:nvSpPr>
          <p:cNvPr id="46" name="Shape 43"/>
          <p:cNvSpPr/>
          <p:nvPr/>
        </p:nvSpPr>
        <p:spPr>
          <a:xfrm>
            <a:off x="2670048" y="4535424"/>
            <a:ext cx="91440" cy="914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4"/>
          <p:cNvSpPr/>
          <p:nvPr/>
        </p:nvSpPr>
        <p:spPr>
          <a:xfrm>
            <a:off x="2807208" y="4507992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App mobile ↔ bureau</a:t>
            </a:r>
            <a:endParaRPr lang="en-US" sz="800" dirty="0"/>
          </a:p>
        </p:txBody>
      </p:sp>
      <p:sp>
        <p:nvSpPr>
          <p:cNvPr id="48" name="Shape 45"/>
          <p:cNvSpPr/>
          <p:nvPr/>
        </p:nvSpPr>
        <p:spPr>
          <a:xfrm>
            <a:off x="4663440" y="3127248"/>
            <a:ext cx="42976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9" name="Shape 46"/>
          <p:cNvSpPr/>
          <p:nvPr/>
        </p:nvSpPr>
        <p:spPr>
          <a:xfrm>
            <a:off x="4663440" y="3127248"/>
            <a:ext cx="54864" cy="1600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7"/>
          <p:cNvSpPr/>
          <p:nvPr/>
        </p:nvSpPr>
        <p:spPr>
          <a:xfrm>
            <a:off x="4828032" y="321868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7091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Notifications &amp; alertes</a:t>
            </a:r>
            <a:endParaRPr lang="en-US" sz="1100" dirty="0"/>
          </a:p>
        </p:txBody>
      </p:sp>
      <p:sp>
        <p:nvSpPr>
          <p:cNvPr id="51" name="Text 48"/>
          <p:cNvSpPr/>
          <p:nvPr/>
        </p:nvSpPr>
        <p:spPr>
          <a:xfrm>
            <a:off x="4828032" y="3529584"/>
            <a:ext cx="2194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Recevez les bonnes informations au bon moment — sans avoir à aller les chercher vous-même.</a:t>
            </a:r>
            <a:endParaRPr lang="en-US" sz="850" dirty="0"/>
          </a:p>
        </p:txBody>
      </p:sp>
      <p:sp>
        <p:nvSpPr>
          <p:cNvPr id="52" name="Text 49"/>
          <p:cNvSpPr/>
          <p:nvPr/>
        </p:nvSpPr>
        <p:spPr>
          <a:xfrm>
            <a:off x="7150608" y="352958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Exemples:</a:t>
            </a:r>
            <a:endParaRPr lang="en-US" sz="800" dirty="0"/>
          </a:p>
        </p:txBody>
      </p:sp>
      <p:sp>
        <p:nvSpPr>
          <p:cNvPr id="53" name="Shape 50"/>
          <p:cNvSpPr/>
          <p:nvPr/>
        </p:nvSpPr>
        <p:spPr>
          <a:xfrm>
            <a:off x="7150608" y="3767328"/>
            <a:ext cx="91440" cy="914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1"/>
          <p:cNvSpPr/>
          <p:nvPr/>
        </p:nvSpPr>
        <p:spPr>
          <a:xfrm>
            <a:off x="7287768" y="3739896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Alertes d'échéance</a:t>
            </a:r>
            <a:endParaRPr lang="en-US" sz="800" dirty="0"/>
          </a:p>
        </p:txBody>
      </p:sp>
      <p:sp>
        <p:nvSpPr>
          <p:cNvPr id="55" name="Shape 52"/>
          <p:cNvSpPr/>
          <p:nvPr/>
        </p:nvSpPr>
        <p:spPr>
          <a:xfrm>
            <a:off x="7150608" y="4023360"/>
            <a:ext cx="91440" cy="914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3"/>
          <p:cNvSpPr/>
          <p:nvPr/>
        </p:nvSpPr>
        <p:spPr>
          <a:xfrm>
            <a:off x="7287768" y="3995928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Rappels automatiques</a:t>
            </a:r>
            <a:endParaRPr lang="en-US" sz="800" dirty="0"/>
          </a:p>
        </p:txBody>
      </p:sp>
      <p:sp>
        <p:nvSpPr>
          <p:cNvPr id="57" name="Shape 54"/>
          <p:cNvSpPr/>
          <p:nvPr/>
        </p:nvSpPr>
        <p:spPr>
          <a:xfrm>
            <a:off x="7150608" y="4279392"/>
            <a:ext cx="91440" cy="914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5"/>
          <p:cNvSpPr/>
          <p:nvPr/>
        </p:nvSpPr>
        <p:spPr>
          <a:xfrm>
            <a:off x="7287768" y="4251960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Notifications d'équipe</a:t>
            </a:r>
            <a:endParaRPr lang="en-US" sz="800" dirty="0"/>
          </a:p>
        </p:txBody>
      </p:sp>
      <p:sp>
        <p:nvSpPr>
          <p:cNvPr id="59" name="Shape 56"/>
          <p:cNvSpPr/>
          <p:nvPr/>
        </p:nvSpPr>
        <p:spPr>
          <a:xfrm>
            <a:off x="7150608" y="4535424"/>
            <a:ext cx="91440" cy="914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7"/>
          <p:cNvSpPr/>
          <p:nvPr/>
        </p:nvSpPr>
        <p:spPr>
          <a:xfrm>
            <a:off x="7287768" y="4507992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Rapports programmés</a:t>
            </a:r>
            <a:endParaRPr lang="en-US" sz="800" dirty="0"/>
          </a:p>
        </p:txBody>
      </p:sp>
      <p:sp>
        <p:nvSpPr>
          <p:cNvPr id="61" name="Shape 5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7091D"/>
          </a:solidFill>
          <a:ln w="12700">
            <a:solidFill>
              <a:srgbClr val="0709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59"/>
          <p:cNvSpPr/>
          <p:nvPr/>
        </p:nvSpPr>
        <p:spPr>
          <a:xfrm>
            <a:off x="0" y="4846320"/>
            <a:ext cx="914400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0"/>
          <p:cNvSpPr/>
          <p:nvPr/>
        </p:nvSpPr>
        <p:spPr>
          <a:xfrm>
            <a:off x="274320" y="487375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civicai.attentezero.ca  |  civicai.attentezero@outlook.com  |  905 809-7798</a:t>
            </a:r>
            <a:endParaRPr lang="en-US" sz="750" dirty="0"/>
          </a:p>
        </p:txBody>
      </p:sp>
      <p:sp>
        <p:nvSpPr>
          <p:cNvPr id="64" name="Text 61"/>
          <p:cNvSpPr/>
          <p:nvPr/>
        </p:nvSpPr>
        <p:spPr>
          <a:xfrm>
            <a:off x="8321040" y="487375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 / 20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9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7091D"/>
          </a:solidFill>
          <a:ln w="12700">
            <a:solidFill>
              <a:srgbClr val="0709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1143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109728"/>
            <a:ext cx="777240" cy="777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14630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Civic</a:t>
            </a:r>
            <a:r>
              <a:rPr lang="en-US" sz="2100" b="1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1051560" y="56692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00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Technologie au service de vos idées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4114800" y="73152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Tableaux de bord &amp; Analytics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4114800" y="68580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Visualisez vos données, décidez mieux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0" y="1143000"/>
            <a:ext cx="54864" cy="3703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274320" y="1261872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Vos données,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clairement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présentées.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274320" y="2395728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 tableau de bord sur mesure vous donne une vue instantanée de ce qui compte: ventes, projets, équipes, finances — tout au même endroit, en temps réel.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74320" y="3291840"/>
            <a:ext cx="91440" cy="914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11480" y="326440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Indicateurs clés (KPIs) personnalisés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274320" y="3483864"/>
            <a:ext cx="91440" cy="914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11480" y="345643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Graphiques et visualisations interactives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274320" y="3675888"/>
            <a:ext cx="91440" cy="914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11480" y="3648456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Alertes automatiques selon vos seuils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274320" y="3867912"/>
            <a:ext cx="91440" cy="914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411480" y="384048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Accès multi-utilisateurs avec rôles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274320" y="4059936"/>
            <a:ext cx="91440" cy="914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411480" y="4032504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Export PDF et Excel en un clic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274320" y="4251960"/>
            <a:ext cx="91440" cy="914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411480" y="422452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Mise à jour en temps réel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274320" y="4443984"/>
            <a:ext cx="91440" cy="914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411480" y="441655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Accessible sur mobile et tablette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274320" y="4636008"/>
            <a:ext cx="91440" cy="914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411480" y="4608576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Historique et comparaisons périodiques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4114800" y="126187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Tableaux disponibles par secteur: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4114800" y="1572768"/>
            <a:ext cx="4846320" cy="566928"/>
          </a:xfrm>
          <a:prstGeom prst="rect">
            <a:avLst/>
          </a:prstGeom>
          <a:solidFill>
            <a:srgbClr val="0F1D5C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4251960" y="16459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Construction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4251960" y="1901952"/>
            <a:ext cx="4526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Avancement chantiers, budget, heures, incidents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4114800" y="2231136"/>
            <a:ext cx="4846320" cy="566928"/>
          </a:xfrm>
          <a:prstGeom prst="rect">
            <a:avLst/>
          </a:prstGeom>
          <a:solidFill>
            <a:srgbClr val="0F1D5C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4251960" y="23042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Commerce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4251960" y="2560320"/>
            <a:ext cx="4526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Ventes, stock, clients, marge par produit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114800" y="2889504"/>
            <a:ext cx="4846320" cy="566928"/>
          </a:xfrm>
          <a:prstGeom prst="rect">
            <a:avLst/>
          </a:prstGeom>
          <a:solidFill>
            <a:srgbClr val="0F1D5C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4251960" y="296265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Immobilier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4251960" y="3218688"/>
            <a:ext cx="4526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Unités, loyers, taux d'occupation, travaux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4114800" y="3547872"/>
            <a:ext cx="4846320" cy="566928"/>
          </a:xfrm>
          <a:prstGeom prst="rect">
            <a:avLst/>
          </a:prstGeom>
          <a:solidFill>
            <a:srgbClr val="0F1D5C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4251960" y="362102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Organisme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4251960" y="3877056"/>
            <a:ext cx="4526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Membres, dons, projets, impact communautaire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4114800" y="4206240"/>
            <a:ext cx="4846320" cy="566928"/>
          </a:xfrm>
          <a:prstGeom prst="rect">
            <a:avLst/>
          </a:prstGeom>
          <a:solidFill>
            <a:srgbClr val="0F1D5C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4251960" y="42793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PME générale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4251960" y="4535424"/>
            <a:ext cx="4526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Finances, équipe, projets, clients</a:t>
            </a:r>
            <a:endParaRPr lang="en-US" sz="850" dirty="0"/>
          </a:p>
        </p:txBody>
      </p:sp>
      <p:sp>
        <p:nvSpPr>
          <p:cNvPr id="44" name="Shape 4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7091D"/>
          </a:solidFill>
          <a:ln w="12700">
            <a:solidFill>
              <a:srgbClr val="0709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2"/>
          <p:cNvSpPr/>
          <p:nvPr/>
        </p:nvSpPr>
        <p:spPr>
          <a:xfrm>
            <a:off x="0" y="4846320"/>
            <a:ext cx="914400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3"/>
          <p:cNvSpPr/>
          <p:nvPr/>
        </p:nvSpPr>
        <p:spPr>
          <a:xfrm>
            <a:off x="274320" y="487375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civicai.attentezero.ca  |  civicai.attentezero@outlook.com  |  905 809-7798</a:t>
            </a:r>
            <a:endParaRPr lang="en-US" sz="750" dirty="0"/>
          </a:p>
        </p:txBody>
      </p:sp>
      <p:sp>
        <p:nvSpPr>
          <p:cNvPr id="47" name="Text 44"/>
          <p:cNvSpPr/>
          <p:nvPr/>
        </p:nvSpPr>
        <p:spPr>
          <a:xfrm>
            <a:off x="8321040" y="487375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 / 20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414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0" y="-1828800"/>
            <a:ext cx="7315200" cy="7315200"/>
          </a:xfrm>
          <a:prstGeom prst="ellipse">
            <a:avLst/>
          </a:prstGeom>
          <a:solidFill>
            <a:srgbClr val="081E2A">
              <a:alpha val="50000"/>
            </a:srgbClr>
          </a:solidFill>
          <a:ln w="12700">
            <a:solidFill>
              <a:srgbClr val="081E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7091D"/>
          </a:solidFill>
          <a:ln w="12700">
            <a:solidFill>
              <a:srgbClr val="0709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4864" cy="1143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109728"/>
            <a:ext cx="777240" cy="777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14630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Civic</a:t>
            </a:r>
            <a:r>
              <a:rPr lang="en-US" sz="2100" b="1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051560" y="56692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00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Technologie au service de vos idées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4114800" y="73152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OFFRE 03 — Solutions d'entreprise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4114800" y="68580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CRM, Marketing &amp; Outils de croissance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0" y="1143000"/>
            <a:ext cx="54864" cy="37033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274320" y="1261872"/>
            <a:ext cx="411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Développez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votre clientèle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et votre marque.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274320" y="2670048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 bon produit ne suffit pas — il faut le faire connaître, attirer les bons clients et les garder. Nos solutions d'entreprise combinent CRM, marketing digital et outils de gestion pour vous aider à croître.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937760" y="126187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EEA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Nos solutions: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937760" y="1600200"/>
            <a:ext cx="1600200" cy="384048"/>
          </a:xfrm>
          <a:prstGeom prst="rect">
            <a:avLst/>
          </a:prstGeom>
          <a:solidFill>
            <a:srgbClr val="081E2A"/>
          </a:solidFill>
          <a:ln w="12700">
            <a:solidFill>
              <a:srgbClr val="0F766E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029200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CRM &amp; Gestion clients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937760" y="2075688"/>
            <a:ext cx="1600200" cy="384048"/>
          </a:xfrm>
          <a:prstGeom prst="rect">
            <a:avLst/>
          </a:prstGeom>
          <a:solidFill>
            <a:srgbClr val="081E2A"/>
          </a:solidFill>
          <a:ln w="12700">
            <a:solidFill>
              <a:srgbClr val="0F766E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029200" y="213969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Marketing digital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4937760" y="2551176"/>
            <a:ext cx="1600200" cy="384048"/>
          </a:xfrm>
          <a:prstGeom prst="rect">
            <a:avLst/>
          </a:prstGeom>
          <a:solidFill>
            <a:srgbClr val="081E2A"/>
          </a:solidFill>
          <a:ln w="12700">
            <a:solidFill>
              <a:srgbClr val="0F766E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5029200" y="261518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Gestion de projets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6601968" y="1600200"/>
            <a:ext cx="1600200" cy="384048"/>
          </a:xfrm>
          <a:prstGeom prst="rect">
            <a:avLst/>
          </a:prstGeom>
          <a:solidFill>
            <a:srgbClr val="081E2A"/>
          </a:solidFill>
          <a:ln w="12700">
            <a:solidFill>
              <a:srgbClr val="0F766E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69340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Stratégie numérique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6601968" y="2075688"/>
            <a:ext cx="1600200" cy="384048"/>
          </a:xfrm>
          <a:prstGeom prst="rect">
            <a:avLst/>
          </a:prstGeom>
          <a:solidFill>
            <a:srgbClr val="081E2A"/>
          </a:solidFill>
          <a:ln w="12700">
            <a:solidFill>
              <a:srgbClr val="0F766E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6693408" y="213969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Intégrations sur mesure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6601968" y="2551176"/>
            <a:ext cx="1600200" cy="384048"/>
          </a:xfrm>
          <a:prstGeom prst="rect">
            <a:avLst/>
          </a:prstGeom>
          <a:solidFill>
            <a:srgbClr val="081E2A"/>
          </a:solidFill>
          <a:ln w="12700">
            <a:solidFill>
              <a:srgbClr val="0F766E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6693408" y="261518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Formation &amp; accompagnement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4937760" y="3127248"/>
            <a:ext cx="1325880" cy="1463040"/>
          </a:xfrm>
          <a:prstGeom prst="rect">
            <a:avLst/>
          </a:prstGeom>
          <a:solidFill>
            <a:srgbClr val="081E2A"/>
          </a:solidFill>
          <a:ln w="12700">
            <a:solidFill>
              <a:srgbClr val="0F766E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4937760" y="324612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DD4B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+40%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4937760" y="3822192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Engagement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client moyen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6355080" y="3127248"/>
            <a:ext cx="1325880" cy="1463040"/>
          </a:xfrm>
          <a:prstGeom prst="rect">
            <a:avLst/>
          </a:prstGeom>
          <a:solidFill>
            <a:srgbClr val="081E2A"/>
          </a:solidFill>
          <a:ln w="12700">
            <a:solidFill>
              <a:srgbClr val="0F766E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6355080" y="324612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DD4B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+60%</a:t>
            </a:r>
            <a:endParaRPr lang="en-US" sz="2000" dirty="0"/>
          </a:p>
        </p:txBody>
      </p:sp>
      <p:sp>
        <p:nvSpPr>
          <p:cNvPr id="31" name="Text 28"/>
          <p:cNvSpPr/>
          <p:nvPr/>
        </p:nvSpPr>
        <p:spPr>
          <a:xfrm>
            <a:off x="6355080" y="3822192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Taux de suivi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 prospects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7772400" y="3127248"/>
            <a:ext cx="1325880" cy="1463040"/>
          </a:xfrm>
          <a:prstGeom prst="rect">
            <a:avLst/>
          </a:prstGeom>
          <a:solidFill>
            <a:srgbClr val="081E2A"/>
          </a:solidFill>
          <a:ln w="12700">
            <a:solidFill>
              <a:srgbClr val="0F766E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7772400" y="324612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DD4B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 mois</a:t>
            </a:r>
            <a:endParaRPr lang="en-US" sz="2000" dirty="0"/>
          </a:p>
        </p:txBody>
      </p:sp>
      <p:sp>
        <p:nvSpPr>
          <p:cNvPr id="34" name="Text 31"/>
          <p:cNvSpPr/>
          <p:nvPr/>
        </p:nvSpPr>
        <p:spPr>
          <a:xfrm>
            <a:off x="7772400" y="3822192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Pour voir les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premiers résultats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7091D"/>
          </a:solidFill>
          <a:ln w="12700">
            <a:solidFill>
              <a:srgbClr val="0709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0" y="4846320"/>
            <a:ext cx="914400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274320" y="487375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civicai.attentezero.ca  |  civicai.attentezero@outlook.com  |  905 809-7798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8321040" y="487375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 / 20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7091D"/>
          </a:solidFill>
          <a:ln w="12700">
            <a:solidFill>
              <a:srgbClr val="0709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1143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109728"/>
            <a:ext cx="777240" cy="777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14630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Civic</a:t>
            </a:r>
            <a:r>
              <a:rPr lang="en-US" sz="2100" b="1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1051560" y="56692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00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Technologie au service de vos idées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4114800" y="73152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CRM — Gestion de la relation client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4114800" y="68580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Centralisez et automatisez votre suivi commercial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182880" y="1261872"/>
            <a:ext cx="42976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182880" y="1261872"/>
            <a:ext cx="54864" cy="1600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47472" y="135331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7091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Base de données clients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47472" y="1700784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Centralisez toutes les informations de vos clients: coordonnées, historique, notes, documents et interactions.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663440" y="1261872"/>
            <a:ext cx="42976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663440" y="1261872"/>
            <a:ext cx="54864" cy="16002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828032" y="135331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7091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Pipeline de ventes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828032" y="1700784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Visualisez vos opportunités en kanban: Prospect → Contact → Proposition → Négociation → Gagné/Perdu.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182880" y="3127248"/>
            <a:ext cx="42976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182880" y="3127248"/>
            <a:ext cx="54864" cy="1600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347472" y="321868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7091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Relances automatiques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347472" y="356616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Planifiez des relances automatiques par courriel ou SMS selon le comportement de vos clients et prospects.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4663440" y="3127248"/>
            <a:ext cx="42976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4663440" y="3127248"/>
            <a:ext cx="54864" cy="1600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4828032" y="321868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7091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Rapports &amp; analytics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828032" y="356616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Taux de conversion, valeur moyenne, temps de vente, performance par vendeur — tout en un coup d'œil.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7091D"/>
          </a:solidFill>
          <a:ln w="12700">
            <a:solidFill>
              <a:srgbClr val="0709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0" y="4846320"/>
            <a:ext cx="914400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274320" y="487375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civicai.attentezero.ca  |  civicai.attentezero@outlook.com  |  905 809-7798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8321040" y="487375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 / 20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7091D"/>
          </a:solidFill>
          <a:ln w="12700">
            <a:solidFill>
              <a:srgbClr val="0709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1143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109728"/>
            <a:ext cx="777240" cy="777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14630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Civic</a:t>
            </a:r>
            <a:r>
              <a:rPr lang="en-US" sz="2100" b="1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1051560" y="56692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00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Technologie au service de vos idées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4114800" y="73152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Marketing digital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4114800" y="68580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Faites connaître votre entreprise et attirez des clients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164592" y="1261872"/>
            <a:ext cx="283464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164592" y="1261872"/>
            <a:ext cx="283464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256032" y="13716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7091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Stratégie digitale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56032" y="1737360"/>
            <a:ext cx="91440" cy="914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393192" y="1709928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Analyse de votre marché et concurrents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256032" y="1956816"/>
            <a:ext cx="91440" cy="914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393192" y="1929384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Définition de votre positionnement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256032" y="2176272"/>
            <a:ext cx="91440" cy="914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393192" y="214884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Plan de communication 12 mois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256032" y="2395728"/>
            <a:ext cx="91440" cy="914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393192" y="2368296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Choix des canaux prioritaires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64592" y="2560320"/>
            <a:ext cx="2834640" cy="274320"/>
          </a:xfrm>
          <a:prstGeom prst="rect">
            <a:avLst/>
          </a:prstGeom>
          <a:solidFill>
            <a:srgbClr val="2563EB">
              <a:alpha val="15000"/>
            </a:srgbClr>
          </a:solidFill>
          <a:ln w="12700">
            <a:solidFill>
              <a:srgbClr val="2563EB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164592" y="2578608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Forfait dès 500$/mois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3154680" y="1261872"/>
            <a:ext cx="283464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3154680" y="1261872"/>
            <a:ext cx="283464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3246120" y="13716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7091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Gestion réseaux sociaux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3246120" y="1737360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3383280" y="1709928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Création de contenu professionnel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3246120" y="1956816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3383280" y="1929384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Publications régulières planifiées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3246120" y="2176272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3383280" y="214884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Gestion des commentaires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3246120" y="2395728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3383280" y="2368296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Rapport mensuel de performance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3154680" y="2560320"/>
            <a:ext cx="2834640" cy="274320"/>
          </a:xfrm>
          <a:prstGeom prst="rect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3154680" y="2578608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7C3A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Forfait dès 400$/mois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6144768" y="1261872"/>
            <a:ext cx="283464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6144768" y="1261872"/>
            <a:ext cx="2834640" cy="640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6236208" y="13716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7091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Publicités en ligne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6236208" y="1737360"/>
            <a:ext cx="91440" cy="914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6373368" y="1709928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Campagnes Google Ads ciblées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6236208" y="1956816"/>
            <a:ext cx="91440" cy="914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6373368" y="1929384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Publicités Facebook &amp; Instagram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6236208" y="2176272"/>
            <a:ext cx="91440" cy="914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6373368" y="214884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Reciblage (retargeting)</a:t>
            </a:r>
            <a:endParaRPr lang="en-US" sz="800" dirty="0"/>
          </a:p>
        </p:txBody>
      </p:sp>
      <p:sp>
        <p:nvSpPr>
          <p:cNvPr id="44" name="Shape 41"/>
          <p:cNvSpPr/>
          <p:nvPr/>
        </p:nvSpPr>
        <p:spPr>
          <a:xfrm>
            <a:off x="6236208" y="2395728"/>
            <a:ext cx="91440" cy="914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/>
          <p:nvPr/>
        </p:nvSpPr>
        <p:spPr>
          <a:xfrm>
            <a:off x="6373368" y="2368296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Optimisation du budget quotidien</a:t>
            </a:r>
            <a:endParaRPr lang="en-US" sz="800" dirty="0"/>
          </a:p>
        </p:txBody>
      </p:sp>
      <p:sp>
        <p:nvSpPr>
          <p:cNvPr id="46" name="Shape 43"/>
          <p:cNvSpPr/>
          <p:nvPr/>
        </p:nvSpPr>
        <p:spPr>
          <a:xfrm>
            <a:off x="6144768" y="2560320"/>
            <a:ext cx="2834640" cy="274320"/>
          </a:xfrm>
          <a:prstGeom prst="rect">
            <a:avLst/>
          </a:prstGeom>
          <a:solidFill>
            <a:srgbClr val="0F766E">
              <a:alpha val="15000"/>
            </a:srgbClr>
          </a:solidFill>
          <a:ln w="12700">
            <a:solidFill>
              <a:srgbClr val="0F766E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4"/>
          <p:cNvSpPr/>
          <p:nvPr/>
        </p:nvSpPr>
        <p:spPr>
          <a:xfrm>
            <a:off x="6144768" y="2578608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76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Forfait dès 600$/mois</a:t>
            </a:r>
            <a:endParaRPr lang="en-US" sz="850" dirty="0"/>
          </a:p>
        </p:txBody>
      </p:sp>
      <p:sp>
        <p:nvSpPr>
          <p:cNvPr id="48" name="Shape 45"/>
          <p:cNvSpPr/>
          <p:nvPr/>
        </p:nvSpPr>
        <p:spPr>
          <a:xfrm>
            <a:off x="164592" y="3017520"/>
            <a:ext cx="283464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9" name="Shape 46"/>
          <p:cNvSpPr/>
          <p:nvPr/>
        </p:nvSpPr>
        <p:spPr>
          <a:xfrm>
            <a:off x="164592" y="3017520"/>
            <a:ext cx="283464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7"/>
          <p:cNvSpPr/>
          <p:nvPr/>
        </p:nvSpPr>
        <p:spPr>
          <a:xfrm>
            <a:off x="256032" y="312724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7091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Création de contenu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256032" y="3493008"/>
            <a:ext cx="91440" cy="914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49"/>
          <p:cNvSpPr/>
          <p:nvPr/>
        </p:nvSpPr>
        <p:spPr>
          <a:xfrm>
            <a:off x="393192" y="3465576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Rédaction d'articles de blogue</a:t>
            </a:r>
            <a:endParaRPr lang="en-US" sz="800" dirty="0"/>
          </a:p>
        </p:txBody>
      </p:sp>
      <p:sp>
        <p:nvSpPr>
          <p:cNvPr id="53" name="Shape 50"/>
          <p:cNvSpPr/>
          <p:nvPr/>
        </p:nvSpPr>
        <p:spPr>
          <a:xfrm>
            <a:off x="256032" y="3712464"/>
            <a:ext cx="91440" cy="914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1"/>
          <p:cNvSpPr/>
          <p:nvPr/>
        </p:nvSpPr>
        <p:spPr>
          <a:xfrm>
            <a:off x="393192" y="3685032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Visuels et infographies</a:t>
            </a:r>
            <a:endParaRPr lang="en-US" sz="800" dirty="0"/>
          </a:p>
        </p:txBody>
      </p:sp>
      <p:sp>
        <p:nvSpPr>
          <p:cNvPr id="55" name="Shape 52"/>
          <p:cNvSpPr/>
          <p:nvPr/>
        </p:nvSpPr>
        <p:spPr>
          <a:xfrm>
            <a:off x="256032" y="3931920"/>
            <a:ext cx="91440" cy="914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3"/>
          <p:cNvSpPr/>
          <p:nvPr/>
        </p:nvSpPr>
        <p:spPr>
          <a:xfrm>
            <a:off x="393192" y="3904488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Vidéos courtes (Reels, TikTok)</a:t>
            </a:r>
            <a:endParaRPr lang="en-US" sz="800" dirty="0"/>
          </a:p>
        </p:txBody>
      </p:sp>
      <p:sp>
        <p:nvSpPr>
          <p:cNvPr id="57" name="Shape 54"/>
          <p:cNvSpPr/>
          <p:nvPr/>
        </p:nvSpPr>
        <p:spPr>
          <a:xfrm>
            <a:off x="256032" y="4151376"/>
            <a:ext cx="91440" cy="914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5"/>
          <p:cNvSpPr/>
          <p:nvPr/>
        </p:nvSpPr>
        <p:spPr>
          <a:xfrm>
            <a:off x="393192" y="4123944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Infolettres et courriels marketing</a:t>
            </a:r>
            <a:endParaRPr lang="en-US" sz="800" dirty="0"/>
          </a:p>
        </p:txBody>
      </p:sp>
      <p:sp>
        <p:nvSpPr>
          <p:cNvPr id="59" name="Shape 56"/>
          <p:cNvSpPr/>
          <p:nvPr/>
        </p:nvSpPr>
        <p:spPr>
          <a:xfrm>
            <a:off x="164592" y="4315968"/>
            <a:ext cx="2834640" cy="274320"/>
          </a:xfrm>
          <a:prstGeom prst="rect">
            <a:avLst/>
          </a:prstGeom>
          <a:solidFill>
            <a:srgbClr val="0891B2">
              <a:alpha val="15000"/>
            </a:srgbClr>
          </a:solidFill>
          <a:ln w="12700">
            <a:solidFill>
              <a:srgbClr val="0891B2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7"/>
          <p:cNvSpPr/>
          <p:nvPr/>
        </p:nvSpPr>
        <p:spPr>
          <a:xfrm>
            <a:off x="164592" y="4334256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891B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Forfait dès 350$/mois</a:t>
            </a:r>
            <a:endParaRPr lang="en-US" sz="850" dirty="0"/>
          </a:p>
        </p:txBody>
      </p:sp>
      <p:sp>
        <p:nvSpPr>
          <p:cNvPr id="61" name="Shape 58"/>
          <p:cNvSpPr/>
          <p:nvPr/>
        </p:nvSpPr>
        <p:spPr>
          <a:xfrm>
            <a:off x="3154680" y="3017520"/>
            <a:ext cx="283464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2" name="Shape 59"/>
          <p:cNvSpPr/>
          <p:nvPr/>
        </p:nvSpPr>
        <p:spPr>
          <a:xfrm>
            <a:off x="3154680" y="3017520"/>
            <a:ext cx="2834640" cy="64008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0"/>
          <p:cNvSpPr/>
          <p:nvPr/>
        </p:nvSpPr>
        <p:spPr>
          <a:xfrm>
            <a:off x="3246120" y="312724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7091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SEO — Référencement</a:t>
            </a:r>
            <a:endParaRPr lang="en-US" sz="1000" dirty="0"/>
          </a:p>
        </p:txBody>
      </p:sp>
      <p:sp>
        <p:nvSpPr>
          <p:cNvPr id="64" name="Shape 61"/>
          <p:cNvSpPr/>
          <p:nvPr/>
        </p:nvSpPr>
        <p:spPr>
          <a:xfrm>
            <a:off x="3246120" y="3493008"/>
            <a:ext cx="91440" cy="91440"/>
          </a:xfrm>
          <a:prstGeom prst="ellipse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2"/>
          <p:cNvSpPr/>
          <p:nvPr/>
        </p:nvSpPr>
        <p:spPr>
          <a:xfrm>
            <a:off x="3383280" y="3465576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Optimisation de votre site Google</a:t>
            </a:r>
            <a:endParaRPr lang="en-US" sz="800" dirty="0"/>
          </a:p>
        </p:txBody>
      </p:sp>
      <p:sp>
        <p:nvSpPr>
          <p:cNvPr id="66" name="Shape 63"/>
          <p:cNvSpPr/>
          <p:nvPr/>
        </p:nvSpPr>
        <p:spPr>
          <a:xfrm>
            <a:off x="3246120" y="3712464"/>
            <a:ext cx="91440" cy="91440"/>
          </a:xfrm>
          <a:prstGeom prst="ellipse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4"/>
          <p:cNvSpPr/>
          <p:nvPr/>
        </p:nvSpPr>
        <p:spPr>
          <a:xfrm>
            <a:off x="3383280" y="3685032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Recherche de mots-clés stratégiques</a:t>
            </a:r>
            <a:endParaRPr lang="en-US" sz="800" dirty="0"/>
          </a:p>
        </p:txBody>
      </p:sp>
      <p:sp>
        <p:nvSpPr>
          <p:cNvPr id="68" name="Shape 65"/>
          <p:cNvSpPr/>
          <p:nvPr/>
        </p:nvSpPr>
        <p:spPr>
          <a:xfrm>
            <a:off x="3246120" y="3931920"/>
            <a:ext cx="91440" cy="91440"/>
          </a:xfrm>
          <a:prstGeom prst="ellipse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6"/>
          <p:cNvSpPr/>
          <p:nvPr/>
        </p:nvSpPr>
        <p:spPr>
          <a:xfrm>
            <a:off x="3383280" y="3904488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Création de contenu optimisé</a:t>
            </a:r>
            <a:endParaRPr lang="en-US" sz="800" dirty="0"/>
          </a:p>
        </p:txBody>
      </p:sp>
      <p:sp>
        <p:nvSpPr>
          <p:cNvPr id="70" name="Shape 67"/>
          <p:cNvSpPr/>
          <p:nvPr/>
        </p:nvSpPr>
        <p:spPr>
          <a:xfrm>
            <a:off x="3246120" y="4151376"/>
            <a:ext cx="91440" cy="91440"/>
          </a:xfrm>
          <a:prstGeom prst="ellipse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8"/>
          <p:cNvSpPr/>
          <p:nvPr/>
        </p:nvSpPr>
        <p:spPr>
          <a:xfrm>
            <a:off x="3383280" y="4123944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Suivi de positionnement mensuel</a:t>
            </a:r>
            <a:endParaRPr lang="en-US" sz="800" dirty="0"/>
          </a:p>
        </p:txBody>
      </p:sp>
      <p:sp>
        <p:nvSpPr>
          <p:cNvPr id="72" name="Shape 69"/>
          <p:cNvSpPr/>
          <p:nvPr/>
        </p:nvSpPr>
        <p:spPr>
          <a:xfrm>
            <a:off x="3154680" y="4315968"/>
            <a:ext cx="2834640" cy="274320"/>
          </a:xfrm>
          <a:prstGeom prst="rect">
            <a:avLst/>
          </a:prstGeom>
          <a:solidFill>
            <a:srgbClr val="065F46">
              <a:alpha val="15000"/>
            </a:srgbClr>
          </a:solidFill>
          <a:ln w="12700">
            <a:solidFill>
              <a:srgbClr val="065F46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0"/>
          <p:cNvSpPr/>
          <p:nvPr/>
        </p:nvSpPr>
        <p:spPr>
          <a:xfrm>
            <a:off x="3154680" y="4334256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5F4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Forfait dès 450$/mois</a:t>
            </a:r>
            <a:endParaRPr lang="en-US" sz="850" dirty="0"/>
          </a:p>
        </p:txBody>
      </p:sp>
      <p:sp>
        <p:nvSpPr>
          <p:cNvPr id="74" name="Shape 71"/>
          <p:cNvSpPr/>
          <p:nvPr/>
        </p:nvSpPr>
        <p:spPr>
          <a:xfrm>
            <a:off x="6144768" y="3017520"/>
            <a:ext cx="283464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5" name="Shape 72"/>
          <p:cNvSpPr/>
          <p:nvPr/>
        </p:nvSpPr>
        <p:spPr>
          <a:xfrm>
            <a:off x="6144768" y="3017520"/>
            <a:ext cx="2834640" cy="64008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3"/>
          <p:cNvSpPr/>
          <p:nvPr/>
        </p:nvSpPr>
        <p:spPr>
          <a:xfrm>
            <a:off x="6236208" y="312724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7091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Email marketing</a:t>
            </a:r>
            <a:endParaRPr lang="en-US" sz="1000" dirty="0"/>
          </a:p>
        </p:txBody>
      </p:sp>
      <p:sp>
        <p:nvSpPr>
          <p:cNvPr id="77" name="Shape 74"/>
          <p:cNvSpPr/>
          <p:nvPr/>
        </p:nvSpPr>
        <p:spPr>
          <a:xfrm>
            <a:off x="6236208" y="3493008"/>
            <a:ext cx="91440" cy="91440"/>
          </a:xfrm>
          <a:prstGeom prst="ellipse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5"/>
          <p:cNvSpPr/>
          <p:nvPr/>
        </p:nvSpPr>
        <p:spPr>
          <a:xfrm>
            <a:off x="6373368" y="3465576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Conception d'infolettres visuelles</a:t>
            </a:r>
            <a:endParaRPr lang="en-US" sz="800" dirty="0"/>
          </a:p>
        </p:txBody>
      </p:sp>
      <p:sp>
        <p:nvSpPr>
          <p:cNvPr id="79" name="Shape 76"/>
          <p:cNvSpPr/>
          <p:nvPr/>
        </p:nvSpPr>
        <p:spPr>
          <a:xfrm>
            <a:off x="6236208" y="3712464"/>
            <a:ext cx="91440" cy="91440"/>
          </a:xfrm>
          <a:prstGeom prst="ellipse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7"/>
          <p:cNvSpPr/>
          <p:nvPr/>
        </p:nvSpPr>
        <p:spPr>
          <a:xfrm>
            <a:off x="6373368" y="3685032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Segmentation de votre liste</a:t>
            </a:r>
            <a:endParaRPr lang="en-US" sz="800" dirty="0"/>
          </a:p>
        </p:txBody>
      </p:sp>
      <p:sp>
        <p:nvSpPr>
          <p:cNvPr id="81" name="Shape 78"/>
          <p:cNvSpPr/>
          <p:nvPr/>
        </p:nvSpPr>
        <p:spPr>
          <a:xfrm>
            <a:off x="6236208" y="3931920"/>
            <a:ext cx="91440" cy="91440"/>
          </a:xfrm>
          <a:prstGeom prst="ellipse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79"/>
          <p:cNvSpPr/>
          <p:nvPr/>
        </p:nvSpPr>
        <p:spPr>
          <a:xfrm>
            <a:off x="6373368" y="3904488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Automatisation des séquences</a:t>
            </a:r>
            <a:endParaRPr lang="en-US" sz="800" dirty="0"/>
          </a:p>
        </p:txBody>
      </p:sp>
      <p:sp>
        <p:nvSpPr>
          <p:cNvPr id="83" name="Shape 80"/>
          <p:cNvSpPr/>
          <p:nvPr/>
        </p:nvSpPr>
        <p:spPr>
          <a:xfrm>
            <a:off x="6236208" y="4151376"/>
            <a:ext cx="91440" cy="91440"/>
          </a:xfrm>
          <a:prstGeom prst="ellipse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81"/>
          <p:cNvSpPr/>
          <p:nvPr/>
        </p:nvSpPr>
        <p:spPr>
          <a:xfrm>
            <a:off x="6373368" y="4123944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Analyse des taux d'ouverture</a:t>
            </a:r>
            <a:endParaRPr lang="en-US" sz="800" dirty="0"/>
          </a:p>
        </p:txBody>
      </p:sp>
      <p:sp>
        <p:nvSpPr>
          <p:cNvPr id="85" name="Shape 82"/>
          <p:cNvSpPr/>
          <p:nvPr/>
        </p:nvSpPr>
        <p:spPr>
          <a:xfrm>
            <a:off x="6144768" y="4315968"/>
            <a:ext cx="2834640" cy="274320"/>
          </a:xfrm>
          <a:prstGeom prst="rect">
            <a:avLst/>
          </a:prstGeom>
          <a:solidFill>
            <a:srgbClr val="92400E">
              <a:alpha val="15000"/>
            </a:srgbClr>
          </a:solidFill>
          <a:ln w="12700">
            <a:solidFill>
              <a:srgbClr val="92400E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83"/>
          <p:cNvSpPr/>
          <p:nvPr/>
        </p:nvSpPr>
        <p:spPr>
          <a:xfrm>
            <a:off x="6144768" y="4334256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2400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Forfait dès 300$/mois</a:t>
            </a:r>
            <a:endParaRPr lang="en-US" sz="850" dirty="0"/>
          </a:p>
        </p:txBody>
      </p:sp>
      <p:sp>
        <p:nvSpPr>
          <p:cNvPr id="87" name="Shape 8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7091D"/>
          </a:solidFill>
          <a:ln w="12700">
            <a:solidFill>
              <a:srgbClr val="0709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Shape 85"/>
          <p:cNvSpPr/>
          <p:nvPr/>
        </p:nvSpPr>
        <p:spPr>
          <a:xfrm>
            <a:off x="0" y="4846320"/>
            <a:ext cx="914400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Text 86"/>
          <p:cNvSpPr/>
          <p:nvPr/>
        </p:nvSpPr>
        <p:spPr>
          <a:xfrm>
            <a:off x="274320" y="487375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civicai.attentezero.ca  |  civicai.attentezero@outlook.com  |  905 809-7798</a:t>
            </a:r>
            <a:endParaRPr lang="en-US" sz="750" dirty="0"/>
          </a:p>
        </p:txBody>
      </p:sp>
      <p:sp>
        <p:nvSpPr>
          <p:cNvPr id="90" name="Text 87"/>
          <p:cNvSpPr/>
          <p:nvPr/>
        </p:nvSpPr>
        <p:spPr>
          <a:xfrm>
            <a:off x="8321040" y="487375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13 / 20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7091D"/>
          </a:solidFill>
          <a:ln w="12700">
            <a:solidFill>
              <a:srgbClr val="0709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1143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109728"/>
            <a:ext cx="777240" cy="777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14630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Civic</a:t>
            </a:r>
            <a:r>
              <a:rPr lang="en-US" sz="2100" b="1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1051560" y="56692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00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Technologie au service de vos idées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4114800" y="73152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Gestion de projets &amp; tâches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4114800" y="68580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Coordonnez votre équipe et vos projets efficacement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182880" y="1261872"/>
            <a:ext cx="42976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182880" y="1261872"/>
            <a:ext cx="429768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20040" y="138988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7091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Tableau de tâches (Kanban)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20040" y="1719072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Visualisez l'avancement de chaque tâche par projet: À faire → En cours → En révision → Terminé. Chaque membre voit ses responsabilités.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663440" y="1261872"/>
            <a:ext cx="42976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663440" y="1261872"/>
            <a:ext cx="4297680" cy="5486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800600" y="138988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7091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Planification &amp; calendrier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800600" y="1719072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Planifiez vos projets avec des dates d'échéance, des jalons et des dépendances entre les tâches. Vue calendrier ou Gantt selon votre préférence.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182880" y="3127248"/>
            <a:ext cx="42976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182880" y="3127248"/>
            <a:ext cx="429768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320040" y="325526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7091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Collaboration d'équipe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320040" y="3584448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Commentez, partagez des fichiers, mentionnez des collègues et suivez l'historique de chaque tâche. Tout le monde est aligné en temps réel.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4663440" y="3127248"/>
            <a:ext cx="42976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4663440" y="3127248"/>
            <a:ext cx="429768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4800600" y="325526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7091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Rapports d'avancement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800600" y="3584448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Tableaux de bord projet: taux de complétion, tâches en retard, charge de travail par personne et prévision de fin de projet.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7091D"/>
          </a:solidFill>
          <a:ln w="12700">
            <a:solidFill>
              <a:srgbClr val="0709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0" y="4846320"/>
            <a:ext cx="914400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274320" y="487375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civicai.attentezero.ca  |  civicai.attentezero@outlook.com  |  905 809-7798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8321040" y="487375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14 / 20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709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7091D"/>
          </a:solidFill>
          <a:ln w="12700">
            <a:solidFill>
              <a:srgbClr val="0709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1143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109728"/>
            <a:ext cx="777240" cy="777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14630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Civic</a:t>
            </a:r>
            <a:r>
              <a:rPr lang="en-US" sz="2100" b="1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1051560" y="56692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00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Technologie au service de vos idées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4114800" y="73152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Vue complète de tous nos services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4114800" y="68580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 que CivicAI peut faire pour vous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137160" y="1234440"/>
            <a:ext cx="2880360" cy="1572768"/>
          </a:xfrm>
          <a:prstGeom prst="rect">
            <a:avLst/>
          </a:prstGeom>
          <a:solidFill>
            <a:srgbClr val="0F1D5C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137160" y="1234440"/>
            <a:ext cx="2880360" cy="3291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228600" y="1280160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Sites web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28600" y="1645920"/>
            <a:ext cx="91440" cy="914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365760" y="161848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Site vitrine professionnel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228600" y="1993392"/>
            <a:ext cx="91440" cy="914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365760" y="196596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Site e-commerce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228600" y="2340864"/>
            <a:ext cx="91440" cy="914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365760" y="231343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Portail web sur mesure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1673352" y="1645920"/>
            <a:ext cx="91440" cy="914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1810512" y="161848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Landing page / page de vente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673352" y="1993392"/>
            <a:ext cx="91440" cy="914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1810512" y="196596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Refonte de site existant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1673352" y="2340864"/>
            <a:ext cx="91440" cy="914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1810512" y="231343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Site multilingue FR/EN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3154680" y="1234440"/>
            <a:ext cx="2880360" cy="1572768"/>
          </a:xfrm>
          <a:prstGeom prst="rect">
            <a:avLst/>
          </a:prstGeom>
          <a:solidFill>
            <a:srgbClr val="0F1D5C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3154680" y="1234440"/>
            <a:ext cx="2880360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3246120" y="1280160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Automatisation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246120" y="1645920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3383280" y="161848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Formulaires numériques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3246120" y="1993392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3383280" y="196596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Flux de travail automatisés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3246120" y="2340864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3383280" y="231343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Intégrations entre systèmes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4690872" y="1645920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4828032" y="161848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Notifications &amp; alertes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4690872" y="1993392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4828032" y="196596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Rapports automatiques</a:t>
            </a:r>
            <a:endParaRPr lang="en-US" sz="800" dirty="0"/>
          </a:p>
        </p:txBody>
      </p:sp>
      <p:sp>
        <p:nvSpPr>
          <p:cNvPr id="37" name="Shape 34"/>
          <p:cNvSpPr/>
          <p:nvPr/>
        </p:nvSpPr>
        <p:spPr>
          <a:xfrm>
            <a:off x="4690872" y="2340864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4828032" y="231343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Bots &amp; assistants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6172200" y="1234440"/>
            <a:ext cx="2880360" cy="1572768"/>
          </a:xfrm>
          <a:prstGeom prst="rect">
            <a:avLst/>
          </a:prstGeom>
          <a:solidFill>
            <a:srgbClr val="0F1D5C"/>
          </a:solidFill>
          <a:ln w="12700">
            <a:solidFill>
              <a:srgbClr val="0F766E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7"/>
          <p:cNvSpPr/>
          <p:nvPr/>
        </p:nvSpPr>
        <p:spPr>
          <a:xfrm>
            <a:off x="6172200" y="1234440"/>
            <a:ext cx="2880360" cy="32918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6263640" y="1280160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ERP &amp; Gestion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6263640" y="1645920"/>
            <a:ext cx="91440" cy="914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6400800" y="161848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Gestion de chantiers</a:t>
            </a:r>
            <a:endParaRPr lang="en-US" sz="800" dirty="0"/>
          </a:p>
        </p:txBody>
      </p:sp>
      <p:sp>
        <p:nvSpPr>
          <p:cNvPr id="44" name="Shape 41"/>
          <p:cNvSpPr/>
          <p:nvPr/>
        </p:nvSpPr>
        <p:spPr>
          <a:xfrm>
            <a:off x="6263640" y="1993392"/>
            <a:ext cx="91440" cy="914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/>
          <p:nvPr/>
        </p:nvSpPr>
        <p:spPr>
          <a:xfrm>
            <a:off x="6400800" y="196596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Feuilles de temps CCQ</a:t>
            </a:r>
            <a:endParaRPr lang="en-US" sz="800" dirty="0"/>
          </a:p>
        </p:txBody>
      </p:sp>
      <p:sp>
        <p:nvSpPr>
          <p:cNvPr id="46" name="Shape 43"/>
          <p:cNvSpPr/>
          <p:nvPr/>
        </p:nvSpPr>
        <p:spPr>
          <a:xfrm>
            <a:off x="6263640" y="2340864"/>
            <a:ext cx="91440" cy="914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4"/>
          <p:cNvSpPr/>
          <p:nvPr/>
        </p:nvSpPr>
        <p:spPr>
          <a:xfrm>
            <a:off x="6400800" y="231343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RH &amp; recrutement</a:t>
            </a:r>
            <a:endParaRPr lang="en-US" sz="800" dirty="0"/>
          </a:p>
        </p:txBody>
      </p:sp>
      <p:sp>
        <p:nvSpPr>
          <p:cNvPr id="48" name="Shape 45"/>
          <p:cNvSpPr/>
          <p:nvPr/>
        </p:nvSpPr>
        <p:spPr>
          <a:xfrm>
            <a:off x="7708392" y="1645920"/>
            <a:ext cx="91440" cy="914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6"/>
          <p:cNvSpPr/>
          <p:nvPr/>
        </p:nvSpPr>
        <p:spPr>
          <a:xfrm>
            <a:off x="7845552" y="161848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Devis &amp; facturation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7708392" y="1993392"/>
            <a:ext cx="91440" cy="914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8"/>
          <p:cNvSpPr/>
          <p:nvPr/>
        </p:nvSpPr>
        <p:spPr>
          <a:xfrm>
            <a:off x="7845552" y="196596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Stocks &amp; matériaux</a:t>
            </a:r>
            <a:endParaRPr lang="en-US" sz="800" dirty="0"/>
          </a:p>
        </p:txBody>
      </p:sp>
      <p:sp>
        <p:nvSpPr>
          <p:cNvPr id="52" name="Shape 49"/>
          <p:cNvSpPr/>
          <p:nvPr/>
        </p:nvSpPr>
        <p:spPr>
          <a:xfrm>
            <a:off x="7708392" y="2340864"/>
            <a:ext cx="91440" cy="914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0"/>
          <p:cNvSpPr/>
          <p:nvPr/>
        </p:nvSpPr>
        <p:spPr>
          <a:xfrm>
            <a:off x="7845552" y="231343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Portail client</a:t>
            </a:r>
            <a:endParaRPr lang="en-US" sz="800" dirty="0"/>
          </a:p>
        </p:txBody>
      </p:sp>
      <p:sp>
        <p:nvSpPr>
          <p:cNvPr id="54" name="Shape 51"/>
          <p:cNvSpPr/>
          <p:nvPr/>
        </p:nvSpPr>
        <p:spPr>
          <a:xfrm>
            <a:off x="137160" y="2926080"/>
            <a:ext cx="2880360" cy="1572768"/>
          </a:xfrm>
          <a:prstGeom prst="rect">
            <a:avLst/>
          </a:prstGeom>
          <a:solidFill>
            <a:srgbClr val="0F1D5C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5" name="Shape 52"/>
          <p:cNvSpPr/>
          <p:nvPr/>
        </p:nvSpPr>
        <p:spPr>
          <a:xfrm>
            <a:off x="137160" y="2926080"/>
            <a:ext cx="2880360" cy="32918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3"/>
          <p:cNvSpPr/>
          <p:nvPr/>
        </p:nvSpPr>
        <p:spPr>
          <a:xfrm>
            <a:off x="228600" y="2971800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Marketing</a:t>
            </a:r>
            <a:endParaRPr lang="en-US" sz="1000" dirty="0"/>
          </a:p>
        </p:txBody>
      </p:sp>
      <p:sp>
        <p:nvSpPr>
          <p:cNvPr id="57" name="Shape 54"/>
          <p:cNvSpPr/>
          <p:nvPr/>
        </p:nvSpPr>
        <p:spPr>
          <a:xfrm>
            <a:off x="228600" y="3337560"/>
            <a:ext cx="91440" cy="914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5"/>
          <p:cNvSpPr/>
          <p:nvPr/>
        </p:nvSpPr>
        <p:spPr>
          <a:xfrm>
            <a:off x="365760" y="331012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Stratégie digitale</a:t>
            </a:r>
            <a:endParaRPr lang="en-US" sz="800" dirty="0"/>
          </a:p>
        </p:txBody>
      </p:sp>
      <p:sp>
        <p:nvSpPr>
          <p:cNvPr id="59" name="Shape 56"/>
          <p:cNvSpPr/>
          <p:nvPr/>
        </p:nvSpPr>
        <p:spPr>
          <a:xfrm>
            <a:off x="228600" y="3685032"/>
            <a:ext cx="91440" cy="914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7"/>
          <p:cNvSpPr/>
          <p:nvPr/>
        </p:nvSpPr>
        <p:spPr>
          <a:xfrm>
            <a:off x="365760" y="365760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Gestion réseaux sociaux</a:t>
            </a:r>
            <a:endParaRPr lang="en-US" sz="800" dirty="0"/>
          </a:p>
        </p:txBody>
      </p:sp>
      <p:sp>
        <p:nvSpPr>
          <p:cNvPr id="61" name="Shape 58"/>
          <p:cNvSpPr/>
          <p:nvPr/>
        </p:nvSpPr>
        <p:spPr>
          <a:xfrm>
            <a:off x="228600" y="4032504"/>
            <a:ext cx="91440" cy="914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59"/>
          <p:cNvSpPr/>
          <p:nvPr/>
        </p:nvSpPr>
        <p:spPr>
          <a:xfrm>
            <a:off x="365760" y="400507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Google Ads &amp; Facebook Ads</a:t>
            </a:r>
            <a:endParaRPr lang="en-US" sz="800" dirty="0"/>
          </a:p>
        </p:txBody>
      </p:sp>
      <p:sp>
        <p:nvSpPr>
          <p:cNvPr id="63" name="Shape 60"/>
          <p:cNvSpPr/>
          <p:nvPr/>
        </p:nvSpPr>
        <p:spPr>
          <a:xfrm>
            <a:off x="1673352" y="3337560"/>
            <a:ext cx="91440" cy="914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1"/>
          <p:cNvSpPr/>
          <p:nvPr/>
        </p:nvSpPr>
        <p:spPr>
          <a:xfrm>
            <a:off x="1810512" y="331012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SEO &amp; référencement</a:t>
            </a:r>
            <a:endParaRPr lang="en-US" sz="800" dirty="0"/>
          </a:p>
        </p:txBody>
      </p:sp>
      <p:sp>
        <p:nvSpPr>
          <p:cNvPr id="65" name="Shape 62"/>
          <p:cNvSpPr/>
          <p:nvPr/>
        </p:nvSpPr>
        <p:spPr>
          <a:xfrm>
            <a:off x="1673352" y="3685032"/>
            <a:ext cx="91440" cy="914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3"/>
          <p:cNvSpPr/>
          <p:nvPr/>
        </p:nvSpPr>
        <p:spPr>
          <a:xfrm>
            <a:off x="1810512" y="365760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Email marketing</a:t>
            </a:r>
            <a:endParaRPr lang="en-US" sz="800" dirty="0"/>
          </a:p>
        </p:txBody>
      </p:sp>
      <p:sp>
        <p:nvSpPr>
          <p:cNvPr id="67" name="Shape 64"/>
          <p:cNvSpPr/>
          <p:nvPr/>
        </p:nvSpPr>
        <p:spPr>
          <a:xfrm>
            <a:off x="1673352" y="4032504"/>
            <a:ext cx="91440" cy="914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5"/>
          <p:cNvSpPr/>
          <p:nvPr/>
        </p:nvSpPr>
        <p:spPr>
          <a:xfrm>
            <a:off x="1810512" y="400507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Création de contenu</a:t>
            </a:r>
            <a:endParaRPr lang="en-US" sz="800" dirty="0"/>
          </a:p>
        </p:txBody>
      </p:sp>
      <p:sp>
        <p:nvSpPr>
          <p:cNvPr id="69" name="Shape 66"/>
          <p:cNvSpPr/>
          <p:nvPr/>
        </p:nvSpPr>
        <p:spPr>
          <a:xfrm>
            <a:off x="3154680" y="2926080"/>
            <a:ext cx="2880360" cy="1572768"/>
          </a:xfrm>
          <a:prstGeom prst="rect">
            <a:avLst/>
          </a:prstGeom>
          <a:solidFill>
            <a:srgbClr val="0F1D5C"/>
          </a:solidFill>
          <a:ln w="12700">
            <a:solidFill>
              <a:srgbClr val="065F46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0" name="Shape 67"/>
          <p:cNvSpPr/>
          <p:nvPr/>
        </p:nvSpPr>
        <p:spPr>
          <a:xfrm>
            <a:off x="3154680" y="2926080"/>
            <a:ext cx="2880360" cy="329184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8"/>
          <p:cNvSpPr/>
          <p:nvPr/>
        </p:nvSpPr>
        <p:spPr>
          <a:xfrm>
            <a:off x="3246120" y="2971800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CRM &amp; Clients</a:t>
            </a:r>
            <a:endParaRPr lang="en-US" sz="1000" dirty="0"/>
          </a:p>
        </p:txBody>
      </p:sp>
      <p:sp>
        <p:nvSpPr>
          <p:cNvPr id="72" name="Shape 69"/>
          <p:cNvSpPr/>
          <p:nvPr/>
        </p:nvSpPr>
        <p:spPr>
          <a:xfrm>
            <a:off x="3246120" y="3337560"/>
            <a:ext cx="91440" cy="91440"/>
          </a:xfrm>
          <a:prstGeom prst="ellipse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0"/>
          <p:cNvSpPr/>
          <p:nvPr/>
        </p:nvSpPr>
        <p:spPr>
          <a:xfrm>
            <a:off x="3383280" y="331012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Base de données clients</a:t>
            </a:r>
            <a:endParaRPr lang="en-US" sz="800" dirty="0"/>
          </a:p>
        </p:txBody>
      </p:sp>
      <p:sp>
        <p:nvSpPr>
          <p:cNvPr id="74" name="Shape 71"/>
          <p:cNvSpPr/>
          <p:nvPr/>
        </p:nvSpPr>
        <p:spPr>
          <a:xfrm>
            <a:off x="3246120" y="3685032"/>
            <a:ext cx="91440" cy="91440"/>
          </a:xfrm>
          <a:prstGeom prst="ellipse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2"/>
          <p:cNvSpPr/>
          <p:nvPr/>
        </p:nvSpPr>
        <p:spPr>
          <a:xfrm>
            <a:off x="3383280" y="365760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Pipeline de ventes</a:t>
            </a:r>
            <a:endParaRPr lang="en-US" sz="800" dirty="0"/>
          </a:p>
        </p:txBody>
      </p:sp>
      <p:sp>
        <p:nvSpPr>
          <p:cNvPr id="76" name="Shape 73"/>
          <p:cNvSpPr/>
          <p:nvPr/>
        </p:nvSpPr>
        <p:spPr>
          <a:xfrm>
            <a:off x="3246120" y="4032504"/>
            <a:ext cx="91440" cy="91440"/>
          </a:xfrm>
          <a:prstGeom prst="ellipse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4"/>
          <p:cNvSpPr/>
          <p:nvPr/>
        </p:nvSpPr>
        <p:spPr>
          <a:xfrm>
            <a:off x="3383280" y="400507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Relances automatiques</a:t>
            </a:r>
            <a:endParaRPr lang="en-US" sz="800" dirty="0"/>
          </a:p>
        </p:txBody>
      </p:sp>
      <p:sp>
        <p:nvSpPr>
          <p:cNvPr id="78" name="Shape 75"/>
          <p:cNvSpPr/>
          <p:nvPr/>
        </p:nvSpPr>
        <p:spPr>
          <a:xfrm>
            <a:off x="4690872" y="3337560"/>
            <a:ext cx="91440" cy="91440"/>
          </a:xfrm>
          <a:prstGeom prst="ellipse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6"/>
          <p:cNvSpPr/>
          <p:nvPr/>
        </p:nvSpPr>
        <p:spPr>
          <a:xfrm>
            <a:off x="4828032" y="331012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Suivi des opportunités</a:t>
            </a:r>
            <a:endParaRPr lang="en-US" sz="800" dirty="0"/>
          </a:p>
        </p:txBody>
      </p:sp>
      <p:sp>
        <p:nvSpPr>
          <p:cNvPr id="80" name="Shape 77"/>
          <p:cNvSpPr/>
          <p:nvPr/>
        </p:nvSpPr>
        <p:spPr>
          <a:xfrm>
            <a:off x="4690872" y="3685032"/>
            <a:ext cx="91440" cy="91440"/>
          </a:xfrm>
          <a:prstGeom prst="ellipse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78"/>
          <p:cNvSpPr/>
          <p:nvPr/>
        </p:nvSpPr>
        <p:spPr>
          <a:xfrm>
            <a:off x="4828032" y="365760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Rapports de performance</a:t>
            </a:r>
            <a:endParaRPr lang="en-US" sz="800" dirty="0"/>
          </a:p>
        </p:txBody>
      </p:sp>
      <p:sp>
        <p:nvSpPr>
          <p:cNvPr id="82" name="Shape 79"/>
          <p:cNvSpPr/>
          <p:nvPr/>
        </p:nvSpPr>
        <p:spPr>
          <a:xfrm>
            <a:off x="4690872" y="4032504"/>
            <a:ext cx="91440" cy="91440"/>
          </a:xfrm>
          <a:prstGeom prst="ellipse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80"/>
          <p:cNvSpPr/>
          <p:nvPr/>
        </p:nvSpPr>
        <p:spPr>
          <a:xfrm>
            <a:off x="4828032" y="400507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Intégration courriel</a:t>
            </a:r>
            <a:endParaRPr lang="en-US" sz="800" dirty="0"/>
          </a:p>
        </p:txBody>
      </p:sp>
      <p:sp>
        <p:nvSpPr>
          <p:cNvPr id="84" name="Shape 81"/>
          <p:cNvSpPr/>
          <p:nvPr/>
        </p:nvSpPr>
        <p:spPr>
          <a:xfrm>
            <a:off x="6172200" y="2926080"/>
            <a:ext cx="2880360" cy="1572768"/>
          </a:xfrm>
          <a:prstGeom prst="rect">
            <a:avLst/>
          </a:prstGeom>
          <a:solidFill>
            <a:srgbClr val="0F1D5C"/>
          </a:solidFill>
          <a:ln w="12700">
            <a:solidFill>
              <a:srgbClr val="92400E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5" name="Shape 82"/>
          <p:cNvSpPr/>
          <p:nvPr/>
        </p:nvSpPr>
        <p:spPr>
          <a:xfrm>
            <a:off x="6172200" y="2926080"/>
            <a:ext cx="2880360" cy="329184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83"/>
          <p:cNvSpPr/>
          <p:nvPr/>
        </p:nvSpPr>
        <p:spPr>
          <a:xfrm>
            <a:off x="6263640" y="2971800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Tableaux de bord</a:t>
            </a:r>
            <a:endParaRPr lang="en-US" sz="1000" dirty="0"/>
          </a:p>
        </p:txBody>
      </p:sp>
      <p:sp>
        <p:nvSpPr>
          <p:cNvPr id="87" name="Shape 84"/>
          <p:cNvSpPr/>
          <p:nvPr/>
        </p:nvSpPr>
        <p:spPr>
          <a:xfrm>
            <a:off x="6263640" y="3337560"/>
            <a:ext cx="91440" cy="91440"/>
          </a:xfrm>
          <a:prstGeom prst="ellipse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 85"/>
          <p:cNvSpPr/>
          <p:nvPr/>
        </p:nvSpPr>
        <p:spPr>
          <a:xfrm>
            <a:off x="6400800" y="331012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KPIs personnalisés</a:t>
            </a:r>
            <a:endParaRPr lang="en-US" sz="800" dirty="0"/>
          </a:p>
        </p:txBody>
      </p:sp>
      <p:sp>
        <p:nvSpPr>
          <p:cNvPr id="89" name="Shape 86"/>
          <p:cNvSpPr/>
          <p:nvPr/>
        </p:nvSpPr>
        <p:spPr>
          <a:xfrm>
            <a:off x="6263640" y="3685032"/>
            <a:ext cx="91440" cy="91440"/>
          </a:xfrm>
          <a:prstGeom prst="ellipse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Text 87"/>
          <p:cNvSpPr/>
          <p:nvPr/>
        </p:nvSpPr>
        <p:spPr>
          <a:xfrm>
            <a:off x="6400800" y="365760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Graphiques interactifs</a:t>
            </a:r>
            <a:endParaRPr lang="en-US" sz="800" dirty="0"/>
          </a:p>
        </p:txBody>
      </p:sp>
      <p:sp>
        <p:nvSpPr>
          <p:cNvPr id="91" name="Shape 88"/>
          <p:cNvSpPr/>
          <p:nvPr/>
        </p:nvSpPr>
        <p:spPr>
          <a:xfrm>
            <a:off x="6263640" y="4032504"/>
            <a:ext cx="91440" cy="91440"/>
          </a:xfrm>
          <a:prstGeom prst="ellipse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Text 89"/>
          <p:cNvSpPr/>
          <p:nvPr/>
        </p:nvSpPr>
        <p:spPr>
          <a:xfrm>
            <a:off x="6400800" y="400507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Rapports sur mesure</a:t>
            </a:r>
            <a:endParaRPr lang="en-US" sz="800" dirty="0"/>
          </a:p>
        </p:txBody>
      </p:sp>
      <p:sp>
        <p:nvSpPr>
          <p:cNvPr id="93" name="Shape 90"/>
          <p:cNvSpPr/>
          <p:nvPr/>
        </p:nvSpPr>
        <p:spPr>
          <a:xfrm>
            <a:off x="7708392" y="3337560"/>
            <a:ext cx="91440" cy="91440"/>
          </a:xfrm>
          <a:prstGeom prst="ellipse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Text 91"/>
          <p:cNvSpPr/>
          <p:nvPr/>
        </p:nvSpPr>
        <p:spPr>
          <a:xfrm>
            <a:off x="7845552" y="331012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Accès multi-utilisateurs</a:t>
            </a:r>
            <a:endParaRPr lang="en-US" sz="800" dirty="0"/>
          </a:p>
        </p:txBody>
      </p:sp>
      <p:sp>
        <p:nvSpPr>
          <p:cNvPr id="95" name="Shape 92"/>
          <p:cNvSpPr/>
          <p:nvPr/>
        </p:nvSpPr>
        <p:spPr>
          <a:xfrm>
            <a:off x="7708392" y="3685032"/>
            <a:ext cx="91440" cy="91440"/>
          </a:xfrm>
          <a:prstGeom prst="ellipse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Text 93"/>
          <p:cNvSpPr/>
          <p:nvPr/>
        </p:nvSpPr>
        <p:spPr>
          <a:xfrm>
            <a:off x="7845552" y="365760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Export PDF/Excel</a:t>
            </a:r>
            <a:endParaRPr lang="en-US" sz="800" dirty="0"/>
          </a:p>
        </p:txBody>
      </p:sp>
      <p:sp>
        <p:nvSpPr>
          <p:cNvPr id="97" name="Shape 94"/>
          <p:cNvSpPr/>
          <p:nvPr/>
        </p:nvSpPr>
        <p:spPr>
          <a:xfrm>
            <a:off x="7708392" y="4032504"/>
            <a:ext cx="91440" cy="91440"/>
          </a:xfrm>
          <a:prstGeom prst="ellipse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Text 95"/>
          <p:cNvSpPr/>
          <p:nvPr/>
        </p:nvSpPr>
        <p:spPr>
          <a:xfrm>
            <a:off x="7845552" y="400507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Alertes automatiques</a:t>
            </a:r>
            <a:endParaRPr lang="en-US" sz="800" dirty="0"/>
          </a:p>
        </p:txBody>
      </p:sp>
      <p:sp>
        <p:nvSpPr>
          <p:cNvPr id="99" name="Shape 9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7091D"/>
          </a:solidFill>
          <a:ln w="12700">
            <a:solidFill>
              <a:srgbClr val="0709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Shape 97"/>
          <p:cNvSpPr/>
          <p:nvPr/>
        </p:nvSpPr>
        <p:spPr>
          <a:xfrm>
            <a:off x="0" y="4846320"/>
            <a:ext cx="914400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Text 98"/>
          <p:cNvSpPr/>
          <p:nvPr/>
        </p:nvSpPr>
        <p:spPr>
          <a:xfrm>
            <a:off x="274320" y="487375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civicai.attentezero.ca  |  civicai.attentezero@outlook.com  |  905 809-7798</a:t>
            </a:r>
            <a:endParaRPr lang="en-US" sz="750" dirty="0"/>
          </a:p>
        </p:txBody>
      </p:sp>
      <p:sp>
        <p:nvSpPr>
          <p:cNvPr id="102" name="Text 99"/>
          <p:cNvSpPr/>
          <p:nvPr/>
        </p:nvSpPr>
        <p:spPr>
          <a:xfrm>
            <a:off x="8321040" y="487375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 / 20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7091D"/>
          </a:solidFill>
          <a:ln w="12700">
            <a:solidFill>
              <a:srgbClr val="0709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1143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109728"/>
            <a:ext cx="777240" cy="777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14630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Civic</a:t>
            </a:r>
            <a:r>
              <a:rPr lang="en-US" sz="2100" b="1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1051560" y="56692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00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Technologie au service de vos idées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4114800" y="73152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Notre processus — Simple et rapide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4114800" y="68580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 l'idée au lancement en 4 étapes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182880" y="1261872"/>
            <a:ext cx="2121408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182880" y="1261872"/>
            <a:ext cx="2121408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932688" y="1371600"/>
            <a:ext cx="640080" cy="6400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932688" y="1389888"/>
            <a:ext cx="640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274320" y="2084832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7091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Analyse &amp; consultation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274320" y="2578608"/>
            <a:ext cx="19385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Nous prenons le temps de comprendre votre entreprise, vos défis quotidiens et vos objectifs. Consultation gratuite de 30 minutes, sans engagement.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182880" y="4315968"/>
            <a:ext cx="2121408" cy="466344"/>
          </a:xfrm>
          <a:prstGeom prst="rect">
            <a:avLst/>
          </a:prstGeom>
          <a:solidFill>
            <a:srgbClr val="2563EB">
              <a:alpha val="15000"/>
            </a:srgbClr>
          </a:solidFill>
          <a:ln w="12700">
            <a:solidFill>
              <a:srgbClr val="2563EB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82880" y="4352544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Durée: 1-2 jours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2304288" y="2240280"/>
            <a:ext cx="118872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2423160" y="1261872"/>
            <a:ext cx="2121408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2423160" y="1261872"/>
            <a:ext cx="2121408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3172968" y="1371600"/>
            <a:ext cx="640080" cy="6400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3172968" y="1389888"/>
            <a:ext cx="640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2514600" y="2084832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7091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Proposition sur mesure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2514600" y="2578608"/>
            <a:ext cx="19385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Nous vous soumettons une proposition claire: solution recommandée, fonctionnalités, calendrier de réalisation et prix transparent.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2423160" y="4315968"/>
            <a:ext cx="2121408" cy="466344"/>
          </a:xfrm>
          <a:prstGeom prst="rect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2423160" y="4352544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7C3A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Durée: 3-5 jours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4544568" y="2240280"/>
            <a:ext cx="118872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4663440" y="1261872"/>
            <a:ext cx="2121408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4663440" y="1261872"/>
            <a:ext cx="2121408" cy="5486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5413248" y="1371600"/>
            <a:ext cx="640080" cy="6400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5413248" y="1389888"/>
            <a:ext cx="640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4754880" y="2084832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7091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Développement &amp; tests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4754880" y="2578608"/>
            <a:ext cx="19385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Notre équipe développe votre solution et vous implique à chaque étape. Vous testez et validez avant le lancement final.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4663440" y="4315968"/>
            <a:ext cx="2121408" cy="466344"/>
          </a:xfrm>
          <a:prstGeom prst="rect">
            <a:avLst/>
          </a:prstGeom>
          <a:solidFill>
            <a:srgbClr val="0F766E">
              <a:alpha val="15000"/>
            </a:srgbClr>
          </a:solidFill>
          <a:ln w="12700">
            <a:solidFill>
              <a:srgbClr val="0F766E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4663440" y="4352544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76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Durée: 2-8 semaines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6784848" y="2240280"/>
            <a:ext cx="118872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6903720" y="1261872"/>
            <a:ext cx="2121408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6903720" y="1261872"/>
            <a:ext cx="2121408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5"/>
          <p:cNvSpPr/>
          <p:nvPr/>
        </p:nvSpPr>
        <p:spPr>
          <a:xfrm>
            <a:off x="7653528" y="1371600"/>
            <a:ext cx="640080" cy="6400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7653528" y="1389888"/>
            <a:ext cx="640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1800" dirty="0"/>
          </a:p>
        </p:txBody>
      </p:sp>
      <p:sp>
        <p:nvSpPr>
          <p:cNvPr id="40" name="Text 37"/>
          <p:cNvSpPr/>
          <p:nvPr/>
        </p:nvSpPr>
        <p:spPr>
          <a:xfrm>
            <a:off x="6995160" y="2084832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7091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Lancement &amp; formation</a:t>
            </a:r>
            <a:endParaRPr lang="en-US" sz="1050" dirty="0"/>
          </a:p>
        </p:txBody>
      </p:sp>
      <p:sp>
        <p:nvSpPr>
          <p:cNvPr id="41" name="Text 38"/>
          <p:cNvSpPr/>
          <p:nvPr/>
        </p:nvSpPr>
        <p:spPr>
          <a:xfrm>
            <a:off x="6995160" y="2578608"/>
            <a:ext cx="19385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Nous déployons votre solution, formons votre équipe et restons disponibles pour le support. Vous partez avec la maîtrise complète de votre outil.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6903720" y="4315968"/>
            <a:ext cx="2121408" cy="466344"/>
          </a:xfrm>
          <a:prstGeom prst="rect">
            <a:avLst/>
          </a:prstGeom>
          <a:solidFill>
            <a:srgbClr val="0891B2">
              <a:alpha val="15000"/>
            </a:srgbClr>
          </a:solidFill>
          <a:ln w="12700">
            <a:solidFill>
              <a:srgbClr val="0891B2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6903720" y="4352544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891B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Durée: 1-2 jours</a:t>
            </a:r>
            <a:endParaRPr lang="en-US" sz="850" dirty="0"/>
          </a:p>
        </p:txBody>
      </p:sp>
      <p:sp>
        <p:nvSpPr>
          <p:cNvPr id="44" name="Shape 4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7091D"/>
          </a:solidFill>
          <a:ln w="12700">
            <a:solidFill>
              <a:srgbClr val="0709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2"/>
          <p:cNvSpPr/>
          <p:nvPr/>
        </p:nvSpPr>
        <p:spPr>
          <a:xfrm>
            <a:off x="0" y="4846320"/>
            <a:ext cx="914400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3"/>
          <p:cNvSpPr/>
          <p:nvPr/>
        </p:nvSpPr>
        <p:spPr>
          <a:xfrm>
            <a:off x="274320" y="487375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civicai.attentezero.ca  |  civicai.attentezero@outlook.com  |  905 809-7798</a:t>
            </a:r>
            <a:endParaRPr lang="en-US" sz="750" dirty="0"/>
          </a:p>
        </p:txBody>
      </p:sp>
      <p:sp>
        <p:nvSpPr>
          <p:cNvPr id="47" name="Text 44"/>
          <p:cNvSpPr/>
          <p:nvPr/>
        </p:nvSpPr>
        <p:spPr>
          <a:xfrm>
            <a:off x="8321040" y="487375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16 / 20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709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7091D"/>
          </a:solidFill>
          <a:ln w="12700">
            <a:solidFill>
              <a:srgbClr val="0709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1143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109728"/>
            <a:ext cx="777240" cy="777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14630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Civic</a:t>
            </a:r>
            <a:r>
              <a:rPr lang="en-US" sz="2100" b="1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1051560" y="56692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00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Technologie au service de vos idées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4114800" y="73152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Tarification — Vue d'ensemble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4114800" y="68580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Plans clairs et transparents, sans surprise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182880" y="1234440"/>
            <a:ext cx="2121408" cy="3657600"/>
          </a:xfrm>
          <a:prstGeom prst="rect">
            <a:avLst/>
          </a:prstGeom>
          <a:solidFill>
            <a:srgbClr val="0F1D5C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182880" y="1234440"/>
            <a:ext cx="2121408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182880" y="12801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Sites web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74320" y="1828800"/>
            <a:ext cx="1938528" cy="566928"/>
          </a:xfrm>
          <a:prstGeom prst="rect">
            <a:avLst/>
          </a:prstGeom>
          <a:solidFill>
            <a:srgbClr val="07091D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320040" y="188366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BD5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Site vitrine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320040" y="21031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À partir de 800$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274320" y="2514600"/>
            <a:ext cx="1938528" cy="566928"/>
          </a:xfrm>
          <a:prstGeom prst="rect">
            <a:avLst/>
          </a:prstGeom>
          <a:solidFill>
            <a:srgbClr val="07091D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320040" y="256946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BD5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Site e-commerce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320040" y="27889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À partir de 1 500$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274320" y="3200400"/>
            <a:ext cx="1938528" cy="566928"/>
          </a:xfrm>
          <a:prstGeom prst="rect">
            <a:avLst/>
          </a:prstGeom>
          <a:solidFill>
            <a:srgbClr val="07091D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320040" y="325526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BD5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Portail sur mesure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320040" y="34747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À partir de 2 500$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274320" y="3886200"/>
            <a:ext cx="1938528" cy="566928"/>
          </a:xfrm>
          <a:prstGeom prst="rect">
            <a:avLst/>
          </a:prstGeom>
          <a:solidFill>
            <a:srgbClr val="07091D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320040" y="394106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BD5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Maintenance mensuelle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320040" y="41605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Dès 100$/mois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2423160" y="1234440"/>
            <a:ext cx="2121408" cy="3657600"/>
          </a:xfrm>
          <a:prstGeom prst="rect">
            <a:avLst/>
          </a:prstGeom>
          <a:solidFill>
            <a:srgbClr val="0F1D5C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2423160" y="1234440"/>
            <a:ext cx="2121408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2423160" y="12801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ERP &amp; Gestion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2514600" y="1828800"/>
            <a:ext cx="1938528" cy="566928"/>
          </a:xfrm>
          <a:prstGeom prst="rect">
            <a:avLst/>
          </a:prstGeom>
          <a:solidFill>
            <a:srgbClr val="07091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2560320" y="188366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BD5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Plan Starter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2560320" y="21031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99$/mois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2514600" y="2514600"/>
            <a:ext cx="1938528" cy="566928"/>
          </a:xfrm>
          <a:prstGeom prst="rect">
            <a:avLst/>
          </a:prstGeom>
          <a:solidFill>
            <a:srgbClr val="07091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2560320" y="256946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BD5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Plan Professionnel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2560320" y="27889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249$/mois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2514600" y="3200400"/>
            <a:ext cx="1938528" cy="566928"/>
          </a:xfrm>
          <a:prstGeom prst="rect">
            <a:avLst/>
          </a:prstGeom>
          <a:solidFill>
            <a:srgbClr val="07091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2560320" y="325526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BD5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Plan Entreprise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2560320" y="34747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499$/mois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2514600" y="3886200"/>
            <a:ext cx="1938528" cy="566928"/>
          </a:xfrm>
          <a:prstGeom prst="rect">
            <a:avLst/>
          </a:prstGeom>
          <a:solidFill>
            <a:srgbClr val="07091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2560320" y="394106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BD5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Setup &amp; formation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2560320" y="41605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500$ à 1 500$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4663440" y="1234440"/>
            <a:ext cx="2121408" cy="3657600"/>
          </a:xfrm>
          <a:prstGeom prst="rect">
            <a:avLst/>
          </a:prstGeom>
          <a:solidFill>
            <a:srgbClr val="0F1D5C"/>
          </a:solidFill>
          <a:ln w="12700">
            <a:solidFill>
              <a:srgbClr val="0F766E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7"/>
          <p:cNvSpPr/>
          <p:nvPr/>
        </p:nvSpPr>
        <p:spPr>
          <a:xfrm>
            <a:off x="4663440" y="1234440"/>
            <a:ext cx="2121408" cy="5029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4663440" y="12801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Marketing digital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4754880" y="1828800"/>
            <a:ext cx="1938528" cy="566928"/>
          </a:xfrm>
          <a:prstGeom prst="rect">
            <a:avLst/>
          </a:prstGeom>
          <a:solidFill>
            <a:srgbClr val="07091D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4800600" y="188366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BD5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Stratégie &amp; conseil</a:t>
            </a:r>
            <a:endParaRPr lang="en-US" sz="850" dirty="0"/>
          </a:p>
        </p:txBody>
      </p:sp>
      <p:sp>
        <p:nvSpPr>
          <p:cNvPr id="44" name="Text 41"/>
          <p:cNvSpPr/>
          <p:nvPr/>
        </p:nvSpPr>
        <p:spPr>
          <a:xfrm>
            <a:off x="4800600" y="21031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76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Dès 500$/mois</a:t>
            </a:r>
            <a:endParaRPr lang="en-US" sz="950" dirty="0"/>
          </a:p>
        </p:txBody>
      </p:sp>
      <p:sp>
        <p:nvSpPr>
          <p:cNvPr id="45" name="Shape 42"/>
          <p:cNvSpPr/>
          <p:nvPr/>
        </p:nvSpPr>
        <p:spPr>
          <a:xfrm>
            <a:off x="4754880" y="2514600"/>
            <a:ext cx="1938528" cy="566928"/>
          </a:xfrm>
          <a:prstGeom prst="rect">
            <a:avLst/>
          </a:prstGeom>
          <a:solidFill>
            <a:srgbClr val="07091D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3"/>
          <p:cNvSpPr/>
          <p:nvPr/>
        </p:nvSpPr>
        <p:spPr>
          <a:xfrm>
            <a:off x="4800600" y="256946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BD5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Réseaux sociaux</a:t>
            </a:r>
            <a:endParaRPr lang="en-US" sz="850" dirty="0"/>
          </a:p>
        </p:txBody>
      </p:sp>
      <p:sp>
        <p:nvSpPr>
          <p:cNvPr id="47" name="Text 44"/>
          <p:cNvSpPr/>
          <p:nvPr/>
        </p:nvSpPr>
        <p:spPr>
          <a:xfrm>
            <a:off x="4800600" y="27889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76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Dès 400$/mois</a:t>
            </a:r>
            <a:endParaRPr lang="en-US" sz="950" dirty="0"/>
          </a:p>
        </p:txBody>
      </p:sp>
      <p:sp>
        <p:nvSpPr>
          <p:cNvPr id="48" name="Shape 45"/>
          <p:cNvSpPr/>
          <p:nvPr/>
        </p:nvSpPr>
        <p:spPr>
          <a:xfrm>
            <a:off x="4754880" y="3200400"/>
            <a:ext cx="1938528" cy="566928"/>
          </a:xfrm>
          <a:prstGeom prst="rect">
            <a:avLst/>
          </a:prstGeom>
          <a:solidFill>
            <a:srgbClr val="07091D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6"/>
          <p:cNvSpPr/>
          <p:nvPr/>
        </p:nvSpPr>
        <p:spPr>
          <a:xfrm>
            <a:off x="4800600" y="325526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BD5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Publicités (Ads)</a:t>
            </a:r>
            <a:endParaRPr lang="en-US" sz="850" dirty="0"/>
          </a:p>
        </p:txBody>
      </p:sp>
      <p:sp>
        <p:nvSpPr>
          <p:cNvPr id="50" name="Text 47"/>
          <p:cNvSpPr/>
          <p:nvPr/>
        </p:nvSpPr>
        <p:spPr>
          <a:xfrm>
            <a:off x="4800600" y="34747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76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Dès 600$/mois</a:t>
            </a:r>
            <a:endParaRPr lang="en-US" sz="950" dirty="0"/>
          </a:p>
        </p:txBody>
      </p:sp>
      <p:sp>
        <p:nvSpPr>
          <p:cNvPr id="51" name="Shape 48"/>
          <p:cNvSpPr/>
          <p:nvPr/>
        </p:nvSpPr>
        <p:spPr>
          <a:xfrm>
            <a:off x="4754880" y="3886200"/>
            <a:ext cx="1938528" cy="566928"/>
          </a:xfrm>
          <a:prstGeom prst="rect">
            <a:avLst/>
          </a:prstGeom>
          <a:solidFill>
            <a:srgbClr val="07091D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49"/>
          <p:cNvSpPr/>
          <p:nvPr/>
        </p:nvSpPr>
        <p:spPr>
          <a:xfrm>
            <a:off x="4800600" y="394106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BD5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SEO &amp; référencement</a:t>
            </a:r>
            <a:endParaRPr lang="en-US" sz="850" dirty="0"/>
          </a:p>
        </p:txBody>
      </p:sp>
      <p:sp>
        <p:nvSpPr>
          <p:cNvPr id="53" name="Text 50"/>
          <p:cNvSpPr/>
          <p:nvPr/>
        </p:nvSpPr>
        <p:spPr>
          <a:xfrm>
            <a:off x="4800600" y="41605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76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Dès 450$/mois</a:t>
            </a:r>
            <a:endParaRPr lang="en-US" sz="950" dirty="0"/>
          </a:p>
        </p:txBody>
      </p:sp>
      <p:sp>
        <p:nvSpPr>
          <p:cNvPr id="54" name="Shape 51"/>
          <p:cNvSpPr/>
          <p:nvPr/>
        </p:nvSpPr>
        <p:spPr>
          <a:xfrm>
            <a:off x="6903720" y="1234440"/>
            <a:ext cx="2121408" cy="3657600"/>
          </a:xfrm>
          <a:prstGeom prst="rect">
            <a:avLst/>
          </a:prstGeom>
          <a:solidFill>
            <a:srgbClr val="0F1D5C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5" name="Shape 52"/>
          <p:cNvSpPr/>
          <p:nvPr/>
        </p:nvSpPr>
        <p:spPr>
          <a:xfrm>
            <a:off x="6903720" y="1234440"/>
            <a:ext cx="2121408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3"/>
          <p:cNvSpPr/>
          <p:nvPr/>
        </p:nvSpPr>
        <p:spPr>
          <a:xfrm>
            <a:off x="6903720" y="12801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Automatisation &amp; CRM</a:t>
            </a:r>
            <a:endParaRPr lang="en-US" sz="1100" dirty="0"/>
          </a:p>
        </p:txBody>
      </p:sp>
      <p:sp>
        <p:nvSpPr>
          <p:cNvPr id="57" name="Shape 54"/>
          <p:cNvSpPr/>
          <p:nvPr/>
        </p:nvSpPr>
        <p:spPr>
          <a:xfrm>
            <a:off x="6995160" y="1828800"/>
            <a:ext cx="1938528" cy="566928"/>
          </a:xfrm>
          <a:prstGeom prst="rect">
            <a:avLst/>
          </a:prstGeom>
          <a:solidFill>
            <a:srgbClr val="07091D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5"/>
          <p:cNvSpPr/>
          <p:nvPr/>
        </p:nvSpPr>
        <p:spPr>
          <a:xfrm>
            <a:off x="7040880" y="188366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BD5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Analyse &amp; conception</a:t>
            </a:r>
            <a:endParaRPr lang="en-US" sz="850" dirty="0"/>
          </a:p>
        </p:txBody>
      </p:sp>
      <p:sp>
        <p:nvSpPr>
          <p:cNvPr id="59" name="Text 56"/>
          <p:cNvSpPr/>
          <p:nvPr/>
        </p:nvSpPr>
        <p:spPr>
          <a:xfrm>
            <a:off x="7040880" y="21031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891B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Sur devis</a:t>
            </a:r>
            <a:endParaRPr lang="en-US" sz="950" dirty="0"/>
          </a:p>
        </p:txBody>
      </p:sp>
      <p:sp>
        <p:nvSpPr>
          <p:cNvPr id="60" name="Shape 57"/>
          <p:cNvSpPr/>
          <p:nvPr/>
        </p:nvSpPr>
        <p:spPr>
          <a:xfrm>
            <a:off x="6995160" y="2514600"/>
            <a:ext cx="1938528" cy="566928"/>
          </a:xfrm>
          <a:prstGeom prst="rect">
            <a:avLst/>
          </a:prstGeom>
          <a:solidFill>
            <a:srgbClr val="07091D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8"/>
          <p:cNvSpPr/>
          <p:nvPr/>
        </p:nvSpPr>
        <p:spPr>
          <a:xfrm>
            <a:off x="7040880" y="256946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BD5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Développement</a:t>
            </a:r>
            <a:endParaRPr lang="en-US" sz="850" dirty="0"/>
          </a:p>
        </p:txBody>
      </p:sp>
      <p:sp>
        <p:nvSpPr>
          <p:cNvPr id="62" name="Text 59"/>
          <p:cNvSpPr/>
          <p:nvPr/>
        </p:nvSpPr>
        <p:spPr>
          <a:xfrm>
            <a:off x="7040880" y="27889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891B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Sur devis</a:t>
            </a:r>
            <a:endParaRPr lang="en-US" sz="950" dirty="0"/>
          </a:p>
        </p:txBody>
      </p:sp>
      <p:sp>
        <p:nvSpPr>
          <p:cNvPr id="63" name="Shape 60"/>
          <p:cNvSpPr/>
          <p:nvPr/>
        </p:nvSpPr>
        <p:spPr>
          <a:xfrm>
            <a:off x="6995160" y="3200400"/>
            <a:ext cx="1938528" cy="566928"/>
          </a:xfrm>
          <a:prstGeom prst="rect">
            <a:avLst/>
          </a:prstGeom>
          <a:solidFill>
            <a:srgbClr val="07091D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1"/>
          <p:cNvSpPr/>
          <p:nvPr/>
        </p:nvSpPr>
        <p:spPr>
          <a:xfrm>
            <a:off x="7040880" y="325526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BD5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CRM sur mesure</a:t>
            </a:r>
            <a:endParaRPr lang="en-US" sz="850" dirty="0"/>
          </a:p>
        </p:txBody>
      </p:sp>
      <p:sp>
        <p:nvSpPr>
          <p:cNvPr id="65" name="Text 62"/>
          <p:cNvSpPr/>
          <p:nvPr/>
        </p:nvSpPr>
        <p:spPr>
          <a:xfrm>
            <a:off x="7040880" y="34747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891B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Sur devis</a:t>
            </a:r>
            <a:endParaRPr lang="en-US" sz="950" dirty="0"/>
          </a:p>
        </p:txBody>
      </p:sp>
      <p:sp>
        <p:nvSpPr>
          <p:cNvPr id="66" name="Shape 63"/>
          <p:cNvSpPr/>
          <p:nvPr/>
        </p:nvSpPr>
        <p:spPr>
          <a:xfrm>
            <a:off x="6995160" y="3886200"/>
            <a:ext cx="1938528" cy="566928"/>
          </a:xfrm>
          <a:prstGeom prst="rect">
            <a:avLst/>
          </a:prstGeom>
          <a:solidFill>
            <a:srgbClr val="07091D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4"/>
          <p:cNvSpPr/>
          <p:nvPr/>
        </p:nvSpPr>
        <p:spPr>
          <a:xfrm>
            <a:off x="7040880" y="394106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BD5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Support mensuel</a:t>
            </a:r>
            <a:endParaRPr lang="en-US" sz="850" dirty="0"/>
          </a:p>
        </p:txBody>
      </p:sp>
      <p:sp>
        <p:nvSpPr>
          <p:cNvPr id="68" name="Text 65"/>
          <p:cNvSpPr/>
          <p:nvPr/>
        </p:nvSpPr>
        <p:spPr>
          <a:xfrm>
            <a:off x="7040880" y="41605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891B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Dès 150$/mois</a:t>
            </a:r>
            <a:endParaRPr lang="en-US" sz="950" dirty="0"/>
          </a:p>
        </p:txBody>
      </p:sp>
      <p:sp>
        <p:nvSpPr>
          <p:cNvPr id="69" name="Text 66"/>
          <p:cNvSpPr/>
          <p:nvPr/>
        </p:nvSpPr>
        <p:spPr>
          <a:xfrm>
            <a:off x="274320" y="482803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Tous nos prix sont en CAD, taxes en sus  ·  Consultation initiale gratuite  ·  Devis personnalisé sur demande</a:t>
            </a:r>
            <a:endParaRPr lang="en-US" sz="750" dirty="0"/>
          </a:p>
        </p:txBody>
      </p:sp>
      <p:sp>
        <p:nvSpPr>
          <p:cNvPr id="70" name="Shape 6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7091D"/>
          </a:solidFill>
          <a:ln w="12700">
            <a:solidFill>
              <a:srgbClr val="0709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8"/>
          <p:cNvSpPr/>
          <p:nvPr/>
        </p:nvSpPr>
        <p:spPr>
          <a:xfrm>
            <a:off x="0" y="4846320"/>
            <a:ext cx="914400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69"/>
          <p:cNvSpPr/>
          <p:nvPr/>
        </p:nvSpPr>
        <p:spPr>
          <a:xfrm>
            <a:off x="274320" y="487375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civicai.attentezero.ca  |  civicai.attentezero@outlook.com  |  905 809-7798</a:t>
            </a:r>
            <a:endParaRPr lang="en-US" sz="750" dirty="0"/>
          </a:p>
        </p:txBody>
      </p:sp>
      <p:sp>
        <p:nvSpPr>
          <p:cNvPr id="73" name="Text 70"/>
          <p:cNvSpPr/>
          <p:nvPr/>
        </p:nvSpPr>
        <p:spPr>
          <a:xfrm>
            <a:off x="8321040" y="487375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17 / 20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709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-1828800"/>
            <a:ext cx="7315200" cy="7315200"/>
          </a:xfrm>
          <a:prstGeom prst="ellipse">
            <a:avLst/>
          </a:prstGeom>
          <a:solidFill>
            <a:srgbClr val="0D1855">
              <a:alpha val="45000"/>
            </a:srgbClr>
          </a:solidFill>
          <a:ln w="12700">
            <a:solidFill>
              <a:srgbClr val="0D18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7091D"/>
          </a:solidFill>
          <a:ln w="12700">
            <a:solidFill>
              <a:srgbClr val="0709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4864" cy="1143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109728"/>
            <a:ext cx="777240" cy="777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14630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Civic</a:t>
            </a:r>
            <a:r>
              <a:rPr lang="en-US" sz="2100" b="1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051560" y="56692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00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Technologie au service de vos idées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4114800" y="73152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Offre de lancement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4114800" y="68580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Pour les premiers clients — Places limitées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182880" y="1261872"/>
            <a:ext cx="8778240" cy="6400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182880" y="1298448"/>
            <a:ext cx="8778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⚡  OFFRE EXCLUSIVE — Premiers clients  ·  2 mois offerts + frais d'installation offerts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182880" y="1993392"/>
            <a:ext cx="2834640" cy="2606040"/>
          </a:xfrm>
          <a:prstGeom prst="rect">
            <a:avLst/>
          </a:prstGeom>
          <a:solidFill>
            <a:srgbClr val="0F1D5C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182880" y="1993392"/>
            <a:ext cx="2834640" cy="6400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82880" y="202996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Starter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82880" y="230428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99$/mois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320040" y="2743200"/>
            <a:ext cx="91440" cy="914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57200" y="267919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 utilisateurs · 2 chantiers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320040" y="3035808"/>
            <a:ext cx="91440" cy="914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457200" y="297019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Feuilles de temps CCQ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320040" y="3328416"/>
            <a:ext cx="91440" cy="914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457200" y="325526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Rapports terrain mobile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320040" y="3621024"/>
            <a:ext cx="91440" cy="914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457200" y="3557719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Formation 2h offerte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320040" y="3913632"/>
            <a:ext cx="91440" cy="914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457200" y="385213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Support courriel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182880" y="4315968"/>
            <a:ext cx="2834640" cy="283464"/>
          </a:xfrm>
          <a:prstGeom prst="rect">
            <a:avLst/>
          </a:prstGeom>
          <a:solidFill>
            <a:srgbClr val="2563EB">
              <a:alpha val="25000"/>
            </a:srgbClr>
          </a:solidFill>
          <a:ln w="12700">
            <a:solidFill>
              <a:srgbClr val="2563EB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182880" y="4334256"/>
            <a:ext cx="2834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198$ économisés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3127248" y="1965257"/>
            <a:ext cx="2834640" cy="2606040"/>
          </a:xfrm>
          <a:prstGeom prst="rect">
            <a:avLst/>
          </a:prstGeom>
          <a:solidFill>
            <a:srgbClr val="0F1D5C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3127248" y="1993392"/>
            <a:ext cx="2834640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3127248" y="201168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⭐ PLUS POPULAIRE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3127248" y="2249424"/>
            <a:ext cx="2834640" cy="6400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3127248" y="228600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Professionnel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3127248" y="25603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249$/mois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3264408" y="2999232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3401568" y="291693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20 utilisateurs · 10 chantiers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3264408" y="3291840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3401568" y="321868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Tous les modules ERP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3264408" y="3584448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3401568" y="351129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Portail client inclus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3264408" y="3877056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3401568" y="3804105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Gantt &amp; planification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3264408" y="4169664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3401568" y="409194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Formation 4h offerte</a:t>
            </a:r>
            <a:endParaRPr lang="en-US" sz="800" dirty="0"/>
          </a:p>
        </p:txBody>
      </p:sp>
      <p:sp>
        <p:nvSpPr>
          <p:cNvPr id="44" name="Shape 41"/>
          <p:cNvSpPr/>
          <p:nvPr/>
        </p:nvSpPr>
        <p:spPr>
          <a:xfrm>
            <a:off x="3127248" y="4315968"/>
            <a:ext cx="2834640" cy="283464"/>
          </a:xfrm>
          <a:prstGeom prst="rect">
            <a:avLst/>
          </a:prstGeom>
          <a:solidFill>
            <a:srgbClr val="7C3AED">
              <a:alpha val="25000"/>
            </a:srgbClr>
          </a:solidFill>
          <a:ln w="12700">
            <a:solidFill>
              <a:srgbClr val="7C3AED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/>
          <p:nvPr/>
        </p:nvSpPr>
        <p:spPr>
          <a:xfrm>
            <a:off x="3127248" y="4334256"/>
            <a:ext cx="2834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C3A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498$ économisés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6071616" y="1993392"/>
            <a:ext cx="2834640" cy="2606040"/>
          </a:xfrm>
          <a:prstGeom prst="rect">
            <a:avLst/>
          </a:prstGeom>
          <a:solidFill>
            <a:srgbClr val="0F1D5C"/>
          </a:solidFill>
          <a:ln w="12700">
            <a:solidFill>
              <a:srgbClr val="0F766E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Shape 44"/>
          <p:cNvSpPr/>
          <p:nvPr/>
        </p:nvSpPr>
        <p:spPr>
          <a:xfrm>
            <a:off x="6071616" y="1993392"/>
            <a:ext cx="2834640" cy="6400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5"/>
          <p:cNvSpPr/>
          <p:nvPr/>
        </p:nvSpPr>
        <p:spPr>
          <a:xfrm>
            <a:off x="6071616" y="202996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Entreprise</a:t>
            </a:r>
            <a:endParaRPr lang="en-US" sz="1100" dirty="0"/>
          </a:p>
        </p:txBody>
      </p:sp>
      <p:sp>
        <p:nvSpPr>
          <p:cNvPr id="49" name="Text 46"/>
          <p:cNvSpPr/>
          <p:nvPr/>
        </p:nvSpPr>
        <p:spPr>
          <a:xfrm>
            <a:off x="6071616" y="230428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499$/mois</a:t>
            </a:r>
            <a:endParaRPr lang="en-US" sz="1400" dirty="0"/>
          </a:p>
        </p:txBody>
      </p:sp>
      <p:sp>
        <p:nvSpPr>
          <p:cNvPr id="50" name="Shape 47"/>
          <p:cNvSpPr/>
          <p:nvPr/>
        </p:nvSpPr>
        <p:spPr>
          <a:xfrm>
            <a:off x="6208776" y="2743200"/>
            <a:ext cx="91440" cy="914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8"/>
          <p:cNvSpPr/>
          <p:nvPr/>
        </p:nvSpPr>
        <p:spPr>
          <a:xfrm>
            <a:off x="6345936" y="267718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Utilisateurs illimités</a:t>
            </a:r>
            <a:endParaRPr lang="en-US" sz="800" dirty="0"/>
          </a:p>
        </p:txBody>
      </p:sp>
      <p:sp>
        <p:nvSpPr>
          <p:cNvPr id="52" name="Shape 49"/>
          <p:cNvSpPr/>
          <p:nvPr/>
        </p:nvSpPr>
        <p:spPr>
          <a:xfrm>
            <a:off x="6208776" y="3035808"/>
            <a:ext cx="91440" cy="914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0"/>
          <p:cNvSpPr/>
          <p:nvPr/>
        </p:nvSpPr>
        <p:spPr>
          <a:xfrm>
            <a:off x="6345936" y="297019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Solution sur mesure</a:t>
            </a:r>
            <a:endParaRPr lang="en-US" sz="800" dirty="0"/>
          </a:p>
        </p:txBody>
      </p:sp>
      <p:sp>
        <p:nvSpPr>
          <p:cNvPr id="54" name="Shape 51"/>
          <p:cNvSpPr/>
          <p:nvPr/>
        </p:nvSpPr>
        <p:spPr>
          <a:xfrm>
            <a:off x="6208776" y="3328416"/>
            <a:ext cx="91440" cy="914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2"/>
          <p:cNvSpPr/>
          <p:nvPr/>
        </p:nvSpPr>
        <p:spPr>
          <a:xfrm>
            <a:off x="6345936" y="325526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Intégrations comptables</a:t>
            </a:r>
            <a:endParaRPr lang="en-US" sz="800" dirty="0"/>
          </a:p>
        </p:txBody>
      </p:sp>
      <p:sp>
        <p:nvSpPr>
          <p:cNvPr id="56" name="Shape 53"/>
          <p:cNvSpPr/>
          <p:nvPr/>
        </p:nvSpPr>
        <p:spPr>
          <a:xfrm>
            <a:off x="6208776" y="3621024"/>
            <a:ext cx="91440" cy="914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4"/>
          <p:cNvSpPr/>
          <p:nvPr/>
        </p:nvSpPr>
        <p:spPr>
          <a:xfrm>
            <a:off x="6345936" y="354827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Formation sur site</a:t>
            </a:r>
            <a:endParaRPr lang="en-US" sz="800" dirty="0"/>
          </a:p>
        </p:txBody>
      </p:sp>
      <p:sp>
        <p:nvSpPr>
          <p:cNvPr id="58" name="Shape 55"/>
          <p:cNvSpPr/>
          <p:nvPr/>
        </p:nvSpPr>
        <p:spPr>
          <a:xfrm>
            <a:off x="6208776" y="3913632"/>
            <a:ext cx="91440" cy="914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6"/>
          <p:cNvSpPr/>
          <p:nvPr/>
        </p:nvSpPr>
        <p:spPr>
          <a:xfrm>
            <a:off x="6345936" y="384048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Gestionnaire dédié</a:t>
            </a:r>
            <a:endParaRPr lang="en-US" sz="800" dirty="0"/>
          </a:p>
        </p:txBody>
      </p:sp>
      <p:sp>
        <p:nvSpPr>
          <p:cNvPr id="60" name="Shape 57"/>
          <p:cNvSpPr/>
          <p:nvPr/>
        </p:nvSpPr>
        <p:spPr>
          <a:xfrm>
            <a:off x="6071616" y="4315968"/>
            <a:ext cx="2834640" cy="283464"/>
          </a:xfrm>
          <a:prstGeom prst="rect">
            <a:avLst/>
          </a:prstGeom>
          <a:solidFill>
            <a:srgbClr val="0F766E">
              <a:alpha val="25000"/>
            </a:srgbClr>
          </a:solidFill>
          <a:ln w="12700">
            <a:solidFill>
              <a:srgbClr val="0F766E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8"/>
          <p:cNvSpPr/>
          <p:nvPr/>
        </p:nvSpPr>
        <p:spPr>
          <a:xfrm>
            <a:off x="6071616" y="4334256"/>
            <a:ext cx="2834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76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998$ économisés</a:t>
            </a:r>
            <a:endParaRPr lang="en-US" sz="900" dirty="0"/>
          </a:p>
        </p:txBody>
      </p:sp>
      <p:sp>
        <p:nvSpPr>
          <p:cNvPr id="62" name="Text 59"/>
          <p:cNvSpPr/>
          <p:nvPr/>
        </p:nvSpPr>
        <p:spPr>
          <a:xfrm>
            <a:off x="274320" y="482803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Offre valable tant que les places sont disponibles  ·  Sans engagement  ·  Annulable à tout moment</a:t>
            </a:r>
            <a:endParaRPr lang="en-US" sz="750" dirty="0"/>
          </a:p>
        </p:txBody>
      </p:sp>
      <p:sp>
        <p:nvSpPr>
          <p:cNvPr id="63" name="Shape 6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7091D"/>
          </a:solidFill>
          <a:ln w="12700">
            <a:solidFill>
              <a:srgbClr val="0709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1"/>
          <p:cNvSpPr/>
          <p:nvPr/>
        </p:nvSpPr>
        <p:spPr>
          <a:xfrm>
            <a:off x="0" y="4846320"/>
            <a:ext cx="914400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2"/>
          <p:cNvSpPr/>
          <p:nvPr/>
        </p:nvSpPr>
        <p:spPr>
          <a:xfrm>
            <a:off x="274320" y="487375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civicai.attentezero.ca  |  civicai.attentezero@outlook.com  |  905 809-7798</a:t>
            </a:r>
            <a:endParaRPr lang="en-US" sz="750" dirty="0"/>
          </a:p>
        </p:txBody>
      </p:sp>
      <p:sp>
        <p:nvSpPr>
          <p:cNvPr id="66" name="Text 63"/>
          <p:cNvSpPr/>
          <p:nvPr/>
        </p:nvSpPr>
        <p:spPr>
          <a:xfrm>
            <a:off x="8321040" y="487375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18 / 20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7091D"/>
          </a:solidFill>
          <a:ln w="12700">
            <a:solidFill>
              <a:srgbClr val="0709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1143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109728"/>
            <a:ext cx="777240" cy="777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14630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Civic</a:t>
            </a:r>
            <a:r>
              <a:rPr lang="en-US" sz="2100" b="1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1051560" y="56692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00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Technologie au service de vos idées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4114800" y="73152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Pourquoi choisir CivicAI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4114800" y="68580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 qui nous distingue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182880" y="1261872"/>
            <a:ext cx="429768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182880" y="1261872"/>
            <a:ext cx="54864" cy="10789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20040" y="1517904"/>
            <a:ext cx="320040" cy="320040"/>
          </a:xfrm>
          <a:prstGeom prst="ellipse">
            <a:avLst/>
          </a:prstGeom>
          <a:solidFill>
            <a:srgbClr val="2563EB">
              <a:alpha val="20000"/>
            </a:srgbClr>
          </a:solidFill>
          <a:ln w="12700">
            <a:solidFill>
              <a:srgbClr val="2563EB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20040" y="151790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31520" y="135331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7091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Solutions 100% sur mesure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22376" y="1453896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Nous partons de vos processus réels — pas un logiciel générique qu'on essaie de faire rentrer dans votre réalité.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663440" y="1261872"/>
            <a:ext cx="429768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4663440" y="1261872"/>
            <a:ext cx="54864" cy="107899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4800600" y="1517904"/>
            <a:ext cx="320040" cy="320040"/>
          </a:xfrm>
          <a:prstGeom prst="ellipse">
            <a:avLst/>
          </a:prstGeom>
          <a:solidFill>
            <a:srgbClr val="0F766E">
              <a:alpha val="20000"/>
            </a:srgbClr>
          </a:solidFill>
          <a:ln w="12700">
            <a:solidFill>
              <a:srgbClr val="0F766E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4800600" y="151790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76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212080" y="135331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7091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Basé au Canada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212080" y="1435608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Données hébergées au Canada. Service en français et en anglais. Conformité totale à la Loi 25 du Québec.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182880" y="2468880"/>
            <a:ext cx="429768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182880" y="2468880"/>
            <a:ext cx="54864" cy="10789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320040" y="2724912"/>
            <a:ext cx="320040" cy="320040"/>
          </a:xfrm>
          <a:prstGeom prst="ellipse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320040" y="27249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C3A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731520" y="256032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7091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Mobile &amp; hors-ligne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731520" y="2670048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Vos équipes terrain accèdent à tout depuis leur téléphone, même sans connexion Internet sur le chantier.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4663440" y="2468880"/>
            <a:ext cx="429768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4663440" y="2468880"/>
            <a:ext cx="54864" cy="10789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4800600" y="2724912"/>
            <a:ext cx="320040" cy="320040"/>
          </a:xfrm>
          <a:prstGeom prst="ellipse">
            <a:avLst/>
          </a:prstGeom>
          <a:solidFill>
            <a:srgbClr val="0891B2">
              <a:alpha val="20000"/>
            </a:srgbClr>
          </a:solidFill>
          <a:ln w="12700">
            <a:solidFill>
              <a:srgbClr val="0891B2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4800600" y="27249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891B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5212080" y="256032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7091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Prix transparent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5202936" y="2642616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Pas de surprise. Nos prix sont clairs dès le départ. Consultation initiale gratuite pour tous, sans condition.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182880" y="3675888"/>
            <a:ext cx="429768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182880" y="3675888"/>
            <a:ext cx="54864" cy="1078992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320040" y="3931920"/>
            <a:ext cx="320040" cy="320040"/>
          </a:xfrm>
          <a:prstGeom prst="ellipse">
            <a:avLst/>
          </a:prstGeom>
          <a:solidFill>
            <a:srgbClr val="065F46">
              <a:alpha val="20000"/>
            </a:srgbClr>
          </a:solidFill>
          <a:ln w="12700">
            <a:solidFill>
              <a:srgbClr val="065F4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320040" y="39319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5F4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731520" y="376732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7091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Accompagnement complet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722376" y="3886200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Nous ne livrons pas et disparaissons. Formation, support continu et évolution de votre solution selon vos besoins.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4663440" y="3675888"/>
            <a:ext cx="429768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7"/>
          <p:cNvSpPr/>
          <p:nvPr/>
        </p:nvSpPr>
        <p:spPr>
          <a:xfrm>
            <a:off x="4663440" y="3675888"/>
            <a:ext cx="54864" cy="1078992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8"/>
          <p:cNvSpPr/>
          <p:nvPr/>
        </p:nvSpPr>
        <p:spPr>
          <a:xfrm>
            <a:off x="4800600" y="3931920"/>
            <a:ext cx="320040" cy="320040"/>
          </a:xfrm>
          <a:prstGeom prst="ellipse">
            <a:avLst/>
          </a:prstGeom>
          <a:solidFill>
            <a:srgbClr val="92400E">
              <a:alpha val="20000"/>
            </a:srgbClr>
          </a:solidFill>
          <a:ln w="12700">
            <a:solidFill>
              <a:srgbClr val="92400E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4800600" y="39319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2400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</a:t>
            </a:r>
            <a:endParaRPr lang="en-US" sz="1300" dirty="0"/>
          </a:p>
        </p:txBody>
      </p:sp>
      <p:sp>
        <p:nvSpPr>
          <p:cNvPr id="43" name="Text 40"/>
          <p:cNvSpPr/>
          <p:nvPr/>
        </p:nvSpPr>
        <p:spPr>
          <a:xfrm>
            <a:off x="5212080" y="376732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7091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Expertise multi-secteurs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5202936" y="3849624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Construction, immobilier, commerce, organismes — nous connaissons les réalités de votre secteur et parlons votre langage.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7091D"/>
          </a:solidFill>
          <a:ln w="12700">
            <a:solidFill>
              <a:srgbClr val="0709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3"/>
          <p:cNvSpPr/>
          <p:nvPr/>
        </p:nvSpPr>
        <p:spPr>
          <a:xfrm>
            <a:off x="0" y="4846320"/>
            <a:ext cx="914400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4"/>
          <p:cNvSpPr/>
          <p:nvPr/>
        </p:nvSpPr>
        <p:spPr>
          <a:xfrm>
            <a:off x="274320" y="487375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civicai.attentezero.ca  |  civicai.attentezero@outlook.com  |  905 809-7798</a:t>
            </a:r>
            <a:endParaRPr lang="en-US" sz="750" dirty="0"/>
          </a:p>
        </p:txBody>
      </p:sp>
      <p:sp>
        <p:nvSpPr>
          <p:cNvPr id="48" name="Text 45"/>
          <p:cNvSpPr/>
          <p:nvPr/>
        </p:nvSpPr>
        <p:spPr>
          <a:xfrm>
            <a:off x="8321040" y="487375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19 / 20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709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0" y="-1828800"/>
            <a:ext cx="8229600" cy="8229600"/>
          </a:xfrm>
          <a:prstGeom prst="ellipse">
            <a:avLst/>
          </a:prstGeom>
          <a:solidFill>
            <a:srgbClr val="0D1855">
              <a:alpha val="45000"/>
            </a:srgbClr>
          </a:solidFill>
          <a:ln w="12700">
            <a:solidFill>
              <a:srgbClr val="0D18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7091D"/>
          </a:solidFill>
          <a:ln w="12700">
            <a:solidFill>
              <a:srgbClr val="0709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54864" cy="1143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109728"/>
            <a:ext cx="777240" cy="7772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14630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Civic</a:t>
            </a:r>
            <a:r>
              <a:rPr lang="en-US" sz="2100" b="1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1051560" y="56692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100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Technologie au service de vos idées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4114800" y="73152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Passons à l'action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4114800" y="68580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Contactez-nous — Consultation gratuite</a:t>
            </a:r>
            <a:endParaRPr lang="en-US" sz="8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371600"/>
            <a:ext cx="1371600" cy="13716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920240" y="14173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Civic</a:t>
            </a:r>
            <a:r>
              <a:rPr lang="en-US" sz="3800" b="1" dirty="0">
                <a:solidFill>
                  <a:srgbClr val="3B82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</a:t>
            </a:r>
            <a:endParaRPr lang="en-US" sz="3800" dirty="0"/>
          </a:p>
        </p:txBody>
      </p:sp>
      <p:sp>
        <p:nvSpPr>
          <p:cNvPr id="13" name="Text 9"/>
          <p:cNvSpPr/>
          <p:nvPr/>
        </p:nvSpPr>
        <p:spPr>
          <a:xfrm>
            <a:off x="1920240" y="2057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TECHNOLOGIE AU SERVICE DE VOS IDÉES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365760" y="2743200"/>
            <a:ext cx="411480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365760" y="288036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Ayaovi Edem Gnagblodjro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65760" y="321868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Fondateur &amp; CEO  ·  NEQ: 2280791601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365760" y="3611880"/>
            <a:ext cx="4114800" cy="237744"/>
          </a:xfrm>
          <a:prstGeom prst="rect">
            <a:avLst/>
          </a:prstGeom>
          <a:solidFill>
            <a:srgbClr val="0F1D5C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502920" y="363931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📞  905 809-7798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365760" y="3886200"/>
            <a:ext cx="4114800" cy="237744"/>
          </a:xfrm>
          <a:prstGeom prst="rect">
            <a:avLst/>
          </a:prstGeom>
          <a:solidFill>
            <a:srgbClr val="0F1D5C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502920" y="391363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✉  civicai.attentezero@outlook.com/contact@attentezero.ca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365760" y="4160520"/>
            <a:ext cx="4114800" cy="237744"/>
          </a:xfrm>
          <a:prstGeom prst="rect">
            <a:avLst/>
          </a:prstGeom>
          <a:solidFill>
            <a:srgbClr val="0F1D5C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502920" y="418795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🌐  civicai.attentezero.ca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365760" y="4434840"/>
            <a:ext cx="4114800" cy="237744"/>
          </a:xfrm>
          <a:prstGeom prst="rect">
            <a:avLst/>
          </a:prstGeom>
          <a:solidFill>
            <a:srgbClr val="0F1D5C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502920" y="446227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📍  Basé au Canada · Service partout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4754880" y="1261872"/>
            <a:ext cx="4114800" cy="3474720"/>
          </a:xfrm>
          <a:prstGeom prst="rect">
            <a:avLst/>
          </a:prstGeom>
          <a:solidFill>
            <a:srgbClr val="0F1D5C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2"/>
          <p:cNvSpPr/>
          <p:nvPr/>
        </p:nvSpPr>
        <p:spPr>
          <a:xfrm>
            <a:off x="4754880" y="1261872"/>
            <a:ext cx="41148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/>
          <p:nvPr/>
        </p:nvSpPr>
        <p:spPr>
          <a:xfrm>
            <a:off x="4892040" y="138988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Prochaines étapes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4892040" y="1828800"/>
            <a:ext cx="274320" cy="2743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5"/>
          <p:cNvSpPr/>
          <p:nvPr/>
        </p:nvSpPr>
        <p:spPr>
          <a:xfrm>
            <a:off x="4892040" y="1828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5230368" y="1746504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Appelez-nous ou écrivez-nous pour planifier votre consultation gratuite de 30 minutes</a:t>
            </a:r>
            <a:endParaRPr lang="en-US" sz="850" dirty="0"/>
          </a:p>
        </p:txBody>
      </p:sp>
      <p:sp>
        <p:nvSpPr>
          <p:cNvPr id="31" name="Shape 27"/>
          <p:cNvSpPr/>
          <p:nvPr/>
        </p:nvSpPr>
        <p:spPr>
          <a:xfrm>
            <a:off x="4892040" y="2395728"/>
            <a:ext cx="274320" cy="2743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8"/>
          <p:cNvSpPr/>
          <p:nvPr/>
        </p:nvSpPr>
        <p:spPr>
          <a:xfrm>
            <a:off x="4892040" y="23957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5230368" y="2304288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Nous analysons vos besoins et défis spécifiques ensemble</a:t>
            </a:r>
            <a:endParaRPr lang="en-US" sz="850" dirty="0"/>
          </a:p>
        </p:txBody>
      </p:sp>
      <p:sp>
        <p:nvSpPr>
          <p:cNvPr id="34" name="Shape 30"/>
          <p:cNvSpPr/>
          <p:nvPr/>
        </p:nvSpPr>
        <p:spPr>
          <a:xfrm>
            <a:off x="4892040" y="2962656"/>
            <a:ext cx="274320" cy="2743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1"/>
          <p:cNvSpPr/>
          <p:nvPr/>
        </p:nvSpPr>
        <p:spPr>
          <a:xfrm>
            <a:off x="4892040" y="29626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000" dirty="0"/>
          </a:p>
        </p:txBody>
      </p:sp>
      <p:sp>
        <p:nvSpPr>
          <p:cNvPr id="36" name="Text 32"/>
          <p:cNvSpPr/>
          <p:nvPr/>
        </p:nvSpPr>
        <p:spPr>
          <a:xfrm>
            <a:off x="5248656" y="2870513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Vous recevez une proposition sur mesure sous 3 à 5 jours</a:t>
            </a:r>
            <a:endParaRPr lang="en-US" sz="850" dirty="0"/>
          </a:p>
        </p:txBody>
      </p:sp>
      <p:sp>
        <p:nvSpPr>
          <p:cNvPr id="37" name="Shape 33"/>
          <p:cNvSpPr/>
          <p:nvPr/>
        </p:nvSpPr>
        <p:spPr>
          <a:xfrm>
            <a:off x="4892040" y="3529584"/>
            <a:ext cx="274320" cy="2743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4"/>
          <p:cNvSpPr/>
          <p:nvPr/>
        </p:nvSpPr>
        <p:spPr>
          <a:xfrm>
            <a:off x="4892040" y="35295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5230368" y="342900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Démarrage du projet selon votre calendrier</a:t>
            </a:r>
            <a:endParaRPr lang="en-US" sz="850" dirty="0"/>
          </a:p>
        </p:txBody>
      </p:sp>
      <p:sp>
        <p:nvSpPr>
          <p:cNvPr id="40" name="Shape 36"/>
          <p:cNvSpPr/>
          <p:nvPr/>
        </p:nvSpPr>
        <p:spPr>
          <a:xfrm>
            <a:off x="4892040" y="4060916"/>
            <a:ext cx="274320" cy="2743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7"/>
          <p:cNvSpPr/>
          <p:nvPr/>
        </p:nvSpPr>
        <p:spPr>
          <a:xfrm>
            <a:off x="4892040" y="40965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000" dirty="0"/>
          </a:p>
        </p:txBody>
      </p:sp>
      <p:sp>
        <p:nvSpPr>
          <p:cNvPr id="42" name="Text 38"/>
          <p:cNvSpPr/>
          <p:nvPr/>
        </p:nvSpPr>
        <p:spPr>
          <a:xfrm>
            <a:off x="5230368" y="3986784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Formation de votre équipe et lancement</a:t>
            </a:r>
            <a:endParaRPr lang="en-US" sz="850" dirty="0"/>
          </a:p>
        </p:txBody>
      </p:sp>
      <p:sp>
        <p:nvSpPr>
          <p:cNvPr id="43" name="Shape 39"/>
          <p:cNvSpPr/>
          <p:nvPr/>
        </p:nvSpPr>
        <p:spPr>
          <a:xfrm>
            <a:off x="4754880" y="4379976"/>
            <a:ext cx="4114800" cy="5760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0"/>
          <p:cNvSpPr/>
          <p:nvPr/>
        </p:nvSpPr>
        <p:spPr>
          <a:xfrm>
            <a:off x="4754880" y="422452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b="1" dirty="0">
              <a:solidFill>
                <a:srgbClr val="FFFFFF"/>
              </a:solidFill>
              <a:latin typeface="Montserrat" pitchFamily="34" charset="0"/>
              <a:ea typeface="Montserrat" pitchFamily="34" charset="-122"/>
              <a:cs typeface="Montserrat" pitchFamily="34" charset="-120"/>
            </a:endParaRPr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Consultation gratuite · Sans engagement · Réponse en 24h</a:t>
            </a:r>
            <a:endParaRPr lang="en-US" sz="1000" dirty="0"/>
          </a:p>
        </p:txBody>
      </p:sp>
      <p:sp>
        <p:nvSpPr>
          <p:cNvPr id="45" name="Shape 4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7091D"/>
          </a:solidFill>
          <a:ln w="12700">
            <a:solidFill>
              <a:srgbClr val="0709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2"/>
          <p:cNvSpPr/>
          <p:nvPr/>
        </p:nvSpPr>
        <p:spPr>
          <a:xfrm>
            <a:off x="0" y="4846320"/>
            <a:ext cx="914400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3"/>
          <p:cNvSpPr/>
          <p:nvPr/>
        </p:nvSpPr>
        <p:spPr>
          <a:xfrm>
            <a:off x="274320" y="487375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civicai.attentezero.ca  |  civicai.attentezero@outlook.com  |  905 809-7798</a:t>
            </a:r>
            <a:endParaRPr lang="en-US" sz="750" dirty="0"/>
          </a:p>
        </p:txBody>
      </p:sp>
      <p:sp>
        <p:nvSpPr>
          <p:cNvPr id="48" name="Text 44"/>
          <p:cNvSpPr/>
          <p:nvPr/>
        </p:nvSpPr>
        <p:spPr>
          <a:xfrm>
            <a:off x="8321040" y="487375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 / 20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</TotalTime>
  <Words>3016</Words>
  <Application>Microsoft Office PowerPoint</Application>
  <PresentationFormat>On-screen Show (16:9)</PresentationFormat>
  <Paragraphs>629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Montserrat</vt:lpstr>
      <vt:lpstr>Open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CivicAI — Présentation complète des services</dc:title>
  <dc:subject>PptxGenJS Presentation</dc:subject>
  <dc:creator>PptxGenJS</dc:creator>
  <cp:lastModifiedBy>Ayaovi Edem GNAGBLODJRO</cp:lastModifiedBy>
  <cp:revision>3</cp:revision>
  <dcterms:created xsi:type="dcterms:W3CDTF">2026-05-16T23:33:45Z</dcterms:created>
  <dcterms:modified xsi:type="dcterms:W3CDTF">2026-05-17T02:28:12Z</dcterms:modified>
</cp:coreProperties>
</file>